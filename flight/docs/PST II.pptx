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8" r:id="rId3"/>
    <p:sldId id="310" r:id="rId4"/>
    <p:sldId id="289" r:id="rId5"/>
    <p:sldId id="290" r:id="rId6"/>
    <p:sldId id="291" r:id="rId7"/>
    <p:sldId id="292" r:id="rId8"/>
    <p:sldId id="257" r:id="rId9"/>
    <p:sldId id="293" r:id="rId10"/>
    <p:sldId id="258" r:id="rId11"/>
    <p:sldId id="294" r:id="rId12"/>
    <p:sldId id="259" r:id="rId13"/>
    <p:sldId id="260" r:id="rId14"/>
    <p:sldId id="311" r:id="rId15"/>
    <p:sldId id="261" r:id="rId16"/>
    <p:sldId id="266" r:id="rId17"/>
    <p:sldId id="295" r:id="rId18"/>
    <p:sldId id="312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" initials="f" lastIdx="1" clrIdx="0">
    <p:extLst>
      <p:ext uri="{19B8F6BF-5375-455C-9EA6-DF929625EA0E}">
        <p15:presenceInfo xmlns:p15="http://schemas.microsoft.com/office/powerpoint/2012/main" userId="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0B9"/>
    <a:srgbClr val="E1E1E1"/>
    <a:srgbClr val="F0F0F0"/>
    <a:srgbClr val="EAEFF7"/>
    <a:srgbClr val="A4B4DD"/>
    <a:srgbClr val="A2B2DD"/>
    <a:srgbClr val="A4B3DD"/>
    <a:srgbClr val="9DADDA"/>
    <a:srgbClr val="3B4952"/>
    <a:srgbClr val="004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38" autoAdjust="0"/>
    <p:restoredTop sz="94660"/>
  </p:normalViewPr>
  <p:slideViewPr>
    <p:cSldViewPr snapToGrid="0">
      <p:cViewPr varScale="1">
        <p:scale>
          <a:sx n="56" d="100"/>
          <a:sy n="56" d="100"/>
        </p:scale>
        <p:origin x="438" y="90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Item</a:t>
            </a:r>
            <a:r>
              <a:rPr lang="en-US" sz="1600" b="1" baseline="0"/>
              <a:t> 14.</a:t>
            </a:r>
            <a:endParaRPr lang="en-US" sz="1600" b="1"/>
          </a:p>
        </c:rich>
      </c:tx>
      <c:layout>
        <c:manualLayout>
          <c:xMode val="edge"/>
          <c:yMode val="edge"/>
          <c:x val="0.39025924825434555"/>
          <c:y val="3.57598978288633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Hoja1!$A$3</c:f>
              <c:strCache>
                <c:ptCount val="1"/>
                <c:pt idx="0">
                  <c:v>Cantidad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8E8-4A23-B9BB-FEC665A8E9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8E8-4A23-B9BB-FEC665A8E9C3}"/>
              </c:ext>
            </c:extLst>
          </c:dPt>
          <c:dLbls>
            <c:dLbl>
              <c:idx val="0"/>
              <c:layout>
                <c:manualLayout>
                  <c:x val="1.5723270440250996E-3"/>
                  <c:y val="-1.6477710401142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V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6477987421383642E-2"/>
                      <c:h val="7.9182630906768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8E8-4A23-B9BB-FEC665A8E9C3}"/>
                </c:ext>
              </c:extLst>
            </c:dLbl>
            <c:dLbl>
              <c:idx val="1"/>
              <c:layout>
                <c:manualLayout>
                  <c:x val="-5.2087357004903263E-3"/>
                  <c:y val="2.49526855120121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E8-4A23-B9BB-FEC665A8E9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multiLvlStrRef>
              <c:f>Hoja1!$B$1:$C$2</c:f>
              <c:multiLvlStrCache>
                <c:ptCount val="2"/>
                <c:lvl>
                  <c:pt idx="0">
                    <c:v>2</c:v>
                  </c:pt>
                  <c:pt idx="1">
                    <c:v>0</c:v>
                  </c:pt>
                </c:lvl>
                <c:lvl>
                  <c:pt idx="0">
                    <c:v>Si</c:v>
                  </c:pt>
                  <c:pt idx="1">
                    <c:v>No</c:v>
                  </c:pt>
                </c:lvl>
              </c:multiLvlStrCache>
            </c:multiLvlStrRef>
          </c:cat>
          <c:val>
            <c:numRef>
              <c:f>Hoja1!$B$3:$C$3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E8-4A23-B9BB-FEC665A8E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V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Item</a:t>
            </a:r>
            <a:r>
              <a:rPr lang="en-US" sz="1600" b="1" baseline="0"/>
              <a:t> 15.</a:t>
            </a:r>
            <a:endParaRPr lang="en-US" sz="1600" b="1"/>
          </a:p>
        </c:rich>
      </c:tx>
      <c:layout>
        <c:manualLayout>
          <c:xMode val="edge"/>
          <c:yMode val="edge"/>
          <c:x val="0.39340390234239586"/>
          <c:y val="3.06513409961685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Hoja1!$A$3</c:f>
              <c:strCache>
                <c:ptCount val="1"/>
                <c:pt idx="0">
                  <c:v>Cantidad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6-4C0B-A93E-8E8118651DE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6-4C0B-A93E-8E8118651DED}"/>
              </c:ext>
            </c:extLst>
          </c:dPt>
          <c:dLbls>
            <c:dLbl>
              <c:idx val="0"/>
              <c:layout>
                <c:manualLayout>
                  <c:x val="1.5723270440250996E-3"/>
                  <c:y val="-1.6477710401142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V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6477987421383642E-2"/>
                      <c:h val="7.9182630906768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006-4C0B-A93E-8E8118651DED}"/>
                </c:ext>
              </c:extLst>
            </c:dLbl>
            <c:dLbl>
              <c:idx val="1"/>
              <c:layout>
                <c:manualLayout>
                  <c:x val="-5.2087357004903263E-3"/>
                  <c:y val="2.49526855120121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06-4C0B-A93E-8E8118651D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multiLvlStrRef>
              <c:f>Hoja1!$B$1:$C$2</c:f>
              <c:multiLvlStrCache>
                <c:ptCount val="2"/>
                <c:lvl>
                  <c:pt idx="0">
                    <c:v>2</c:v>
                  </c:pt>
                  <c:pt idx="1">
                    <c:v>0</c:v>
                  </c:pt>
                </c:lvl>
                <c:lvl>
                  <c:pt idx="0">
                    <c:v>Si</c:v>
                  </c:pt>
                  <c:pt idx="1">
                    <c:v>No</c:v>
                  </c:pt>
                </c:lvl>
              </c:multiLvlStrCache>
            </c:multiLvlStrRef>
          </c:cat>
          <c:val>
            <c:numRef>
              <c:f>Hoja1!$B$3:$C$3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6-4C0B-A93E-8E8118651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V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BDE625-5FE1-489E-9A2B-A85A22125494}" type="doc">
      <dgm:prSet loTypeId="urn:microsoft.com/office/officeart/2005/8/layout/radial3" loCatId="relationship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0E8BA380-DFF5-478E-A468-D3A8BE1557C3}">
      <dgm:prSet phldrT="[Texto]" custT="1"/>
      <dgm:spPr>
        <a:xfrm>
          <a:off x="1595575" y="1008284"/>
          <a:ext cx="2120566" cy="2120566"/>
        </a:xfrm>
        <a:prstGeom prst="ellipse">
          <a:avLst/>
        </a:prstGeom>
        <a:solidFill>
          <a:srgbClr val="FFC000">
            <a:alpha val="50000"/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>
            <a:buNone/>
          </a:pPr>
          <a:r>
            <a:rPr lang="es-ES" sz="28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Taberna 7 Hermanos</a:t>
          </a:r>
        </a:p>
      </dgm:t>
    </dgm:pt>
    <dgm:pt modelId="{1FDB60E1-4134-4899-AA15-0158FB505973}" type="parTrans" cxnId="{11FFC56A-D22D-4186-A971-3405A3022FFA}">
      <dgm:prSet/>
      <dgm:spPr/>
      <dgm:t>
        <a:bodyPr/>
        <a:lstStyle/>
        <a:p>
          <a:endParaRPr lang="es-ES"/>
        </a:p>
      </dgm:t>
    </dgm:pt>
    <dgm:pt modelId="{E0BDA741-0BAD-4521-9E0C-41331638F187}" type="sibTrans" cxnId="{11FFC56A-D22D-4186-A971-3405A3022FFA}">
      <dgm:prSet/>
      <dgm:spPr/>
      <dgm:t>
        <a:bodyPr/>
        <a:lstStyle/>
        <a:p>
          <a:endParaRPr lang="es-ES"/>
        </a:p>
      </dgm:t>
    </dgm:pt>
    <dgm:pt modelId="{FC3EA40F-07A6-4D14-8D23-FDD0FF3F73AE}">
      <dgm:prSet phldrT="[Texto]" custT="1"/>
      <dgm:spPr>
        <a:xfrm>
          <a:off x="926877" y="208791"/>
          <a:ext cx="1442271" cy="1456807"/>
        </a:xfrm>
        <a:prstGeom prst="ellipse">
          <a:avLst/>
        </a:prstGeom>
        <a:solidFill>
          <a:srgbClr val="FFC000">
            <a:alpha val="50000"/>
            <a:hueOff val="3465231"/>
            <a:satOff val="-15989"/>
            <a:lumOff val="588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>
            <a:buNone/>
          </a:pPr>
          <a:r>
            <a:rPr lang="es-ES" sz="28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UPTM</a:t>
          </a:r>
        </a:p>
      </dgm:t>
    </dgm:pt>
    <dgm:pt modelId="{863C8403-D2B8-4493-8ACE-B21983FA3D7F}" type="parTrans" cxnId="{CF9D9330-0C03-4E26-91C6-EB66C47A60F1}">
      <dgm:prSet/>
      <dgm:spPr/>
      <dgm:t>
        <a:bodyPr/>
        <a:lstStyle/>
        <a:p>
          <a:endParaRPr lang="es-ES"/>
        </a:p>
      </dgm:t>
    </dgm:pt>
    <dgm:pt modelId="{F24B9322-6DA4-4E2B-A204-98B79EA2A89C}" type="sibTrans" cxnId="{CF9D9330-0C03-4E26-91C6-EB66C47A60F1}">
      <dgm:prSet/>
      <dgm:spPr/>
      <dgm:t>
        <a:bodyPr/>
        <a:lstStyle/>
        <a:p>
          <a:endParaRPr lang="es-ES"/>
        </a:p>
      </dgm:t>
    </dgm:pt>
    <dgm:pt modelId="{340A9C04-3652-4CCA-A93D-5370FCBA4D93}">
      <dgm:prSet phldrT="[Texto]" custT="1"/>
      <dgm:spPr>
        <a:xfrm>
          <a:off x="3277860" y="528900"/>
          <a:ext cx="1440892" cy="1466647"/>
        </a:xfrm>
        <a:prstGeom prst="ellipse">
          <a:avLst/>
        </a:prstGeom>
        <a:solidFill>
          <a:srgbClr val="FFC000">
            <a:alpha val="50000"/>
            <a:hueOff val="6930461"/>
            <a:satOff val="-31979"/>
            <a:lumOff val="1177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>
            <a:buNone/>
          </a:pPr>
          <a:r>
            <a:rPr lang="es-ES" sz="28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Clientes</a:t>
          </a:r>
        </a:p>
      </dgm:t>
    </dgm:pt>
    <dgm:pt modelId="{8FDDB054-08AD-4EB1-93DE-4256F6BC8874}" type="parTrans" cxnId="{FB95F08F-737C-429A-B854-E7728D06C527}">
      <dgm:prSet/>
      <dgm:spPr/>
      <dgm:t>
        <a:bodyPr/>
        <a:lstStyle/>
        <a:p>
          <a:endParaRPr lang="es-ES"/>
        </a:p>
      </dgm:t>
    </dgm:pt>
    <dgm:pt modelId="{D8CB97B4-50C1-44D2-A24E-E19680DD76BD}" type="sibTrans" cxnId="{FB95F08F-737C-429A-B854-E7728D06C527}">
      <dgm:prSet/>
      <dgm:spPr/>
      <dgm:t>
        <a:bodyPr/>
        <a:lstStyle/>
        <a:p>
          <a:endParaRPr lang="es-ES"/>
        </a:p>
      </dgm:t>
    </dgm:pt>
    <dgm:pt modelId="{1A004B62-6652-45EC-AE91-6C51C9A0AE7D}">
      <dgm:prSet phldrT="[Texto]" custT="1"/>
      <dgm:spPr>
        <a:xfrm>
          <a:off x="624376" y="2037827"/>
          <a:ext cx="1442048" cy="1441104"/>
        </a:xfrm>
        <a:prstGeom prst="ellipse">
          <a:avLst/>
        </a:prstGeom>
        <a:solidFill>
          <a:srgbClr val="FFC000">
            <a:alpha val="50000"/>
            <a:hueOff val="10395692"/>
            <a:satOff val="-47968"/>
            <a:lumOff val="1765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>
            <a:buNone/>
          </a:pPr>
          <a:r>
            <a:rPr lang="es-ES" sz="28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Proveedores</a:t>
          </a:r>
        </a:p>
      </dgm:t>
    </dgm:pt>
    <dgm:pt modelId="{62EC442E-B278-4D85-8BED-B29FE0998414}" type="parTrans" cxnId="{D5813999-4094-4B1D-83A5-8CB6BA8A6F9D}">
      <dgm:prSet/>
      <dgm:spPr/>
      <dgm:t>
        <a:bodyPr/>
        <a:lstStyle/>
        <a:p>
          <a:endParaRPr lang="es-ES"/>
        </a:p>
      </dgm:t>
    </dgm:pt>
    <dgm:pt modelId="{A6B1C34A-E9A3-4191-8BC6-581A678F5C51}" type="sibTrans" cxnId="{D5813999-4094-4B1D-83A5-8CB6BA8A6F9D}">
      <dgm:prSet/>
      <dgm:spPr/>
      <dgm:t>
        <a:bodyPr/>
        <a:lstStyle/>
        <a:p>
          <a:endParaRPr lang="es-ES"/>
        </a:p>
      </dgm:t>
    </dgm:pt>
    <dgm:pt modelId="{B7AC9244-4FFC-471E-A496-259F2B11900E}" type="pres">
      <dgm:prSet presAssocID="{8CBDE625-5FE1-489E-9A2B-A85A22125494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85D1AF2-738E-47DA-9080-AEAD51352909}" type="pres">
      <dgm:prSet presAssocID="{8CBDE625-5FE1-489E-9A2B-A85A22125494}" presName="radial" presStyleCnt="0">
        <dgm:presLayoutVars>
          <dgm:animLvl val="ctr"/>
        </dgm:presLayoutVars>
      </dgm:prSet>
      <dgm:spPr/>
    </dgm:pt>
    <dgm:pt modelId="{DEE9D535-36FF-47E6-81BD-F296E1F6B5EA}" type="pres">
      <dgm:prSet presAssocID="{0E8BA380-DFF5-478E-A468-D3A8BE1557C3}" presName="centerShape" presStyleLbl="vennNode1" presStyleIdx="0" presStyleCnt="4" custScaleX="117068" custScaleY="108356" custLinFactNeighborX="16050" custLinFactNeighborY="-4378"/>
      <dgm:spPr/>
      <dgm:t>
        <a:bodyPr/>
        <a:lstStyle/>
        <a:p>
          <a:endParaRPr lang="es-ES"/>
        </a:p>
      </dgm:t>
    </dgm:pt>
    <dgm:pt modelId="{8190C082-B355-4376-B7F5-202B0D39775E}" type="pres">
      <dgm:prSet presAssocID="{FC3EA40F-07A6-4D14-8D23-FDD0FF3F73AE}" presName="node" presStyleLbl="vennNode1" presStyleIdx="1" presStyleCnt="4" custScaleX="107222" custScaleY="96727" custRadScaleRad="82059" custRadScaleInc="-2389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7DEF533-E609-4962-8670-A8E7250195A4}" type="pres">
      <dgm:prSet presAssocID="{340A9C04-3652-4CCA-A93D-5370FCBA4D93}" presName="node" presStyleLbl="vennNode1" presStyleIdx="2" presStyleCnt="4" custScaleX="144240" custScaleY="130580" custRadScaleRad="112475" custRadScaleInc="-6364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8F4AE15-BF2E-47A2-A2DE-6B993A91ADED}" type="pres">
      <dgm:prSet presAssocID="{1A004B62-6652-45EC-AE91-6C51C9A0AE7D}" presName="node" presStyleLbl="vennNode1" presStyleIdx="3" presStyleCnt="4" custScaleX="226325" custScaleY="90957" custRadScaleRad="71704" custRadScaleInc="-1643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0BD91C0F-874D-461B-AB7C-30E682EED10C}" type="presOf" srcId="{340A9C04-3652-4CCA-A93D-5370FCBA4D93}" destId="{F7DEF533-E609-4962-8670-A8E7250195A4}" srcOrd="0" destOrd="0" presId="urn:microsoft.com/office/officeart/2005/8/layout/radial3"/>
    <dgm:cxn modelId="{D5813999-4094-4B1D-83A5-8CB6BA8A6F9D}" srcId="{0E8BA380-DFF5-478E-A468-D3A8BE1557C3}" destId="{1A004B62-6652-45EC-AE91-6C51C9A0AE7D}" srcOrd="2" destOrd="0" parTransId="{62EC442E-B278-4D85-8BED-B29FE0998414}" sibTransId="{A6B1C34A-E9A3-4191-8BC6-581A678F5C51}"/>
    <dgm:cxn modelId="{FB95F08F-737C-429A-B854-E7728D06C527}" srcId="{0E8BA380-DFF5-478E-A468-D3A8BE1557C3}" destId="{340A9C04-3652-4CCA-A93D-5370FCBA4D93}" srcOrd="1" destOrd="0" parTransId="{8FDDB054-08AD-4EB1-93DE-4256F6BC8874}" sibTransId="{D8CB97B4-50C1-44D2-A24E-E19680DD76BD}"/>
    <dgm:cxn modelId="{CF9D9330-0C03-4E26-91C6-EB66C47A60F1}" srcId="{0E8BA380-DFF5-478E-A468-D3A8BE1557C3}" destId="{FC3EA40F-07A6-4D14-8D23-FDD0FF3F73AE}" srcOrd="0" destOrd="0" parTransId="{863C8403-D2B8-4493-8ACE-B21983FA3D7F}" sibTransId="{F24B9322-6DA4-4E2B-A204-98B79EA2A89C}"/>
    <dgm:cxn modelId="{D4B3CBCE-1E2B-463A-9FE2-64B5889508FE}" type="presOf" srcId="{8CBDE625-5FE1-489E-9A2B-A85A22125494}" destId="{B7AC9244-4FFC-471E-A496-259F2B11900E}" srcOrd="0" destOrd="0" presId="urn:microsoft.com/office/officeart/2005/8/layout/radial3"/>
    <dgm:cxn modelId="{86E5A9DF-F8FD-4FC2-8D3F-FE638567677A}" type="presOf" srcId="{0E8BA380-DFF5-478E-A468-D3A8BE1557C3}" destId="{DEE9D535-36FF-47E6-81BD-F296E1F6B5EA}" srcOrd="0" destOrd="0" presId="urn:microsoft.com/office/officeart/2005/8/layout/radial3"/>
    <dgm:cxn modelId="{11FFC56A-D22D-4186-A971-3405A3022FFA}" srcId="{8CBDE625-5FE1-489E-9A2B-A85A22125494}" destId="{0E8BA380-DFF5-478E-A468-D3A8BE1557C3}" srcOrd="0" destOrd="0" parTransId="{1FDB60E1-4134-4899-AA15-0158FB505973}" sibTransId="{E0BDA741-0BAD-4521-9E0C-41331638F187}"/>
    <dgm:cxn modelId="{E3463155-B05F-4E57-9C4E-B429E4056D58}" type="presOf" srcId="{FC3EA40F-07A6-4D14-8D23-FDD0FF3F73AE}" destId="{8190C082-B355-4376-B7F5-202B0D39775E}" srcOrd="0" destOrd="0" presId="urn:microsoft.com/office/officeart/2005/8/layout/radial3"/>
    <dgm:cxn modelId="{85D138FD-8F93-40B2-ADFD-EFB195261897}" type="presOf" srcId="{1A004B62-6652-45EC-AE91-6C51C9A0AE7D}" destId="{58F4AE15-BF2E-47A2-A2DE-6B993A91ADED}" srcOrd="0" destOrd="0" presId="urn:microsoft.com/office/officeart/2005/8/layout/radial3"/>
    <dgm:cxn modelId="{2D69B06B-3D78-4B5C-BAB0-DE45278D5CA0}" type="presParOf" srcId="{B7AC9244-4FFC-471E-A496-259F2B11900E}" destId="{985D1AF2-738E-47DA-9080-AEAD51352909}" srcOrd="0" destOrd="0" presId="urn:microsoft.com/office/officeart/2005/8/layout/radial3"/>
    <dgm:cxn modelId="{5A514670-2D63-47F4-AD35-289D2CBCDCCE}" type="presParOf" srcId="{985D1AF2-738E-47DA-9080-AEAD51352909}" destId="{DEE9D535-36FF-47E6-81BD-F296E1F6B5EA}" srcOrd="0" destOrd="0" presId="urn:microsoft.com/office/officeart/2005/8/layout/radial3"/>
    <dgm:cxn modelId="{7129A40A-7AAF-415A-9C59-BBE31F880596}" type="presParOf" srcId="{985D1AF2-738E-47DA-9080-AEAD51352909}" destId="{8190C082-B355-4376-B7F5-202B0D39775E}" srcOrd="1" destOrd="0" presId="urn:microsoft.com/office/officeart/2005/8/layout/radial3"/>
    <dgm:cxn modelId="{46CEE2DA-85C5-40E5-BB96-439020D57893}" type="presParOf" srcId="{985D1AF2-738E-47DA-9080-AEAD51352909}" destId="{F7DEF533-E609-4962-8670-A8E7250195A4}" srcOrd="2" destOrd="0" presId="urn:microsoft.com/office/officeart/2005/8/layout/radial3"/>
    <dgm:cxn modelId="{B5830BDB-22EF-4385-8B4A-6FA34E75DD9E}" type="presParOf" srcId="{985D1AF2-738E-47DA-9080-AEAD51352909}" destId="{58F4AE15-BF2E-47A2-A2DE-6B993A91ADED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6FA0E-871B-49DB-B41B-0402316E184B}" type="doc">
      <dgm:prSet loTypeId="urn:microsoft.com/office/officeart/2005/8/layout/cycle6" loCatId="relationship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A13CDB08-B1CC-4232-8AC8-DBEDB4EDA644}">
      <dgm:prSet phldrT="[Texto]"/>
      <dgm:spPr>
        <a:xfrm>
          <a:off x="3092702" y="1244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r>
            <a:rPr lang="es-ES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Inicio</a:t>
          </a:r>
        </a:p>
      </dgm:t>
    </dgm:pt>
    <dgm:pt modelId="{9A0F84F0-C301-43E7-BDA3-0B09151C068C}" type="parTrans" cxnId="{1E65ADFF-5AB7-49A2-8A3C-61C18F3C4FA3}">
      <dgm:prSet/>
      <dgm:spPr/>
      <dgm:t>
        <a:bodyPr/>
        <a:lstStyle/>
        <a:p>
          <a:endParaRPr lang="es-ES"/>
        </a:p>
      </dgm:t>
    </dgm:pt>
    <dgm:pt modelId="{47BD725D-0E5C-4F03-9EDB-8F0DEB762E8B}" type="sibTrans" cxnId="{1E65ADFF-5AB7-49A2-8A3C-61C18F3C4FA3}">
      <dgm:prSet/>
      <dgm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2968721" y="239209"/>
              </a:moveTo>
              <a:arcTo wR="2016171" hR="2016171" stAng="17891627" swAng="2624947"/>
            </a:path>
          </a:pathLst>
        </a:custGeom>
        <a:noFill/>
        <a:ln w="88900" cap="flat" cmpd="sng" algn="ctr">
          <a:solidFill>
            <a:srgbClr val="54BCDF">
              <a:hueOff val="0"/>
              <a:satOff val="0"/>
              <a:lumOff val="0"/>
            </a:srgbClr>
          </a:solidFill>
          <a:prstDash val="solid"/>
        </a:ln>
        <a:effectLst/>
      </dgm:spPr>
      <dgm:t>
        <a:bodyPr/>
        <a:lstStyle/>
        <a:p>
          <a:endParaRPr lang="es-ES"/>
        </a:p>
      </dgm:t>
    </dgm:pt>
    <dgm:pt modelId="{AE95D94B-AC46-468E-8BA6-7F46CFA7675E}">
      <dgm:prSet phldrT="[Texto]"/>
      <dgm:spPr>
        <a:xfrm>
          <a:off x="5108874" y="2017415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1596027"/>
                <a:satOff val="-4850"/>
                <a:lumOff val="-65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1596027"/>
                <a:satOff val="-4850"/>
                <a:lumOff val="-65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r>
            <a:rPr lang="es-ES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Elaboración</a:t>
          </a:r>
        </a:p>
      </dgm:t>
    </dgm:pt>
    <dgm:pt modelId="{5FE2BF53-2DB7-4CE7-A1F1-81F4998CFA29}" type="parTrans" cxnId="{D773BA2D-B36B-4690-B8E2-0EBD13B70F9A}">
      <dgm:prSet/>
      <dgm:spPr/>
      <dgm:t>
        <a:bodyPr/>
        <a:lstStyle/>
        <a:p>
          <a:endParaRPr lang="es-ES"/>
        </a:p>
      </dgm:t>
    </dgm:pt>
    <dgm:pt modelId="{9EE63C53-6D60-42AC-8659-689ADAC09249}" type="sibTrans" cxnId="{D773BA2D-B36B-4690-B8E2-0EBD13B70F9A}">
      <dgm:prSet/>
      <dgm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3933041" y="2641113"/>
              </a:moveTo>
              <a:arcTo wR="2016171" hR="2016171" stAng="1083426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</a:ln>
        <a:effectLst/>
      </dgm:spPr>
      <dgm:t>
        <a:bodyPr/>
        <a:lstStyle/>
        <a:p>
          <a:endParaRPr lang="es-ES"/>
        </a:p>
      </dgm:t>
    </dgm:pt>
    <dgm:pt modelId="{A3F83555-D327-4C58-9A20-D57B5A9F91D5}">
      <dgm:prSet phldrT="[Texto]"/>
      <dgm:spPr>
        <a:xfrm>
          <a:off x="3092702" y="4033586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3192055"/>
                <a:satOff val="-9701"/>
                <a:lumOff val="-131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3192055"/>
                <a:satOff val="-9701"/>
                <a:lumOff val="-131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r>
            <a:rPr lang="es-ES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construcción </a:t>
          </a:r>
        </a:p>
      </dgm:t>
    </dgm:pt>
    <dgm:pt modelId="{718FCC92-9115-4E8D-A775-EADE37FE3780}" type="parTrans" cxnId="{05A2B8F5-43AC-4766-8963-F1C02A57F937}">
      <dgm:prSet/>
      <dgm:spPr/>
      <dgm:t>
        <a:bodyPr/>
        <a:lstStyle/>
        <a:p>
          <a:endParaRPr lang="es-ES"/>
        </a:p>
      </dgm:t>
    </dgm:pt>
    <dgm:pt modelId="{DAF6D22F-C299-4E89-B047-7B4589D6FAD9}" type="sibTrans" cxnId="{05A2B8F5-43AC-4766-8963-F1C02A57F937}">
      <dgm:prSet/>
      <dgm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1063620" y="3793133"/>
              </a:moveTo>
              <a:arcTo wR="2016171" hR="2016171" stAng="7091627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</a:ln>
        <a:effectLst/>
      </dgm:spPr>
      <dgm:t>
        <a:bodyPr/>
        <a:lstStyle/>
        <a:p>
          <a:endParaRPr lang="es-ES"/>
        </a:p>
      </dgm:t>
    </dgm:pt>
    <dgm:pt modelId="{2C3C90DA-E2CE-499B-A28E-63737653D2FD}">
      <dgm:prSet phldrT="[Texto]"/>
      <dgm:spPr>
        <a:xfrm>
          <a:off x="1076531" y="2017415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r>
            <a:rPr lang="es-ES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Transición</a:t>
          </a:r>
        </a:p>
      </dgm:t>
    </dgm:pt>
    <dgm:pt modelId="{06D3315C-E989-4384-878C-95C70DA31D41}" type="parTrans" cxnId="{3A04EF46-2550-4956-A7B2-CA9158E0D1B0}">
      <dgm:prSet/>
      <dgm:spPr/>
      <dgm:t>
        <a:bodyPr/>
        <a:lstStyle/>
        <a:p>
          <a:endParaRPr lang="es-ES"/>
        </a:p>
      </dgm:t>
    </dgm:pt>
    <dgm:pt modelId="{354E5EA5-B721-4709-8BF7-5DD161457C65}" type="sibTrans" cxnId="{3A04EF46-2550-4956-A7B2-CA9158E0D1B0}">
      <dgm:prSet/>
      <dgm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99300" y="1391229"/>
              </a:moveTo>
              <a:arcTo wR="2016171" hR="2016171" stAng="11883426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</a:ln>
        <a:effectLst/>
      </dgm:spPr>
      <dgm:t>
        <a:bodyPr/>
        <a:lstStyle/>
        <a:p>
          <a:endParaRPr lang="es-ES"/>
        </a:p>
      </dgm:t>
    </dgm:pt>
    <dgm:pt modelId="{2E64169B-657E-4A4C-8F46-1265E5A4A138}" type="pres">
      <dgm:prSet presAssocID="{3346FA0E-871B-49DB-B41B-0402316E184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FBFC9426-E0A0-4BDD-922C-F5A934C0E4EF}" type="pres">
      <dgm:prSet presAssocID="{A13CDB08-B1CC-4232-8AC8-DBEDB4EDA64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5AAF6BE-716C-4F74-90E2-89460671CC60}" type="pres">
      <dgm:prSet presAssocID="{A13CDB08-B1CC-4232-8AC8-DBEDB4EDA644}" presName="spNode" presStyleCnt="0"/>
      <dgm:spPr/>
    </dgm:pt>
    <dgm:pt modelId="{02C49C8C-3088-4278-9A8D-E375F99C24E0}" type="pres">
      <dgm:prSet presAssocID="{47BD725D-0E5C-4F03-9EDB-8F0DEB762E8B}" presName="sibTrans" presStyleLbl="sibTrans1D1" presStyleIdx="0" presStyleCnt="4"/>
      <dgm:spPr/>
      <dgm:t>
        <a:bodyPr/>
        <a:lstStyle/>
        <a:p>
          <a:endParaRPr lang="es-ES"/>
        </a:p>
      </dgm:t>
    </dgm:pt>
    <dgm:pt modelId="{D90F2A9D-65E4-42AC-8E64-D9AC70044A6E}" type="pres">
      <dgm:prSet presAssocID="{AE95D94B-AC46-468E-8BA6-7F46CFA7675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5BFF57C-F9D2-4A72-AB4A-B2EE94A64DB5}" type="pres">
      <dgm:prSet presAssocID="{AE95D94B-AC46-468E-8BA6-7F46CFA7675E}" presName="spNode" presStyleCnt="0"/>
      <dgm:spPr/>
    </dgm:pt>
    <dgm:pt modelId="{2B1D7832-C31D-4605-9288-6219D0B34D63}" type="pres">
      <dgm:prSet presAssocID="{9EE63C53-6D60-42AC-8659-689ADAC09249}" presName="sibTrans" presStyleLbl="sibTrans1D1" presStyleIdx="1" presStyleCnt="4"/>
      <dgm:spPr/>
      <dgm:t>
        <a:bodyPr/>
        <a:lstStyle/>
        <a:p>
          <a:endParaRPr lang="es-ES"/>
        </a:p>
      </dgm:t>
    </dgm:pt>
    <dgm:pt modelId="{C54F8E44-CC0D-4C0E-8DD4-0EE047D11ACE}" type="pres">
      <dgm:prSet presAssocID="{A3F83555-D327-4C58-9A20-D57B5A9F91D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F9E9B86-DA4A-4609-8E8D-A5C2B0194B5F}" type="pres">
      <dgm:prSet presAssocID="{A3F83555-D327-4C58-9A20-D57B5A9F91D5}" presName="spNode" presStyleCnt="0"/>
      <dgm:spPr/>
    </dgm:pt>
    <dgm:pt modelId="{63A79FC1-1534-49A0-B628-4AF669FCA726}" type="pres">
      <dgm:prSet presAssocID="{DAF6D22F-C299-4E89-B047-7B4589D6FAD9}" presName="sibTrans" presStyleLbl="sibTrans1D1" presStyleIdx="2" presStyleCnt="4"/>
      <dgm:spPr/>
      <dgm:t>
        <a:bodyPr/>
        <a:lstStyle/>
        <a:p>
          <a:endParaRPr lang="es-ES"/>
        </a:p>
      </dgm:t>
    </dgm:pt>
    <dgm:pt modelId="{84AEB691-C4F9-493E-A494-A197D92D1213}" type="pres">
      <dgm:prSet presAssocID="{2C3C90DA-E2CE-499B-A28E-63737653D2FD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780CF6C-3ABC-4D17-8626-6B8E455E1DC9}" type="pres">
      <dgm:prSet presAssocID="{2C3C90DA-E2CE-499B-A28E-63737653D2FD}" presName="spNode" presStyleCnt="0"/>
      <dgm:spPr/>
    </dgm:pt>
    <dgm:pt modelId="{94560C8C-1A5A-4EF5-BC4D-A2EEE5EEF864}" type="pres">
      <dgm:prSet presAssocID="{354E5EA5-B721-4709-8BF7-5DD161457C65}" presName="sibTrans" presStyleLbl="sibTrans1D1" presStyleIdx="3" presStyleCnt="4"/>
      <dgm:spPr/>
      <dgm:t>
        <a:bodyPr/>
        <a:lstStyle/>
        <a:p>
          <a:endParaRPr lang="es-ES"/>
        </a:p>
      </dgm:t>
    </dgm:pt>
  </dgm:ptLst>
  <dgm:cxnLst>
    <dgm:cxn modelId="{E9114E3F-260D-43A1-A24F-BE2D60E01422}" type="presOf" srcId="{DAF6D22F-C299-4E89-B047-7B4589D6FAD9}" destId="{63A79FC1-1534-49A0-B628-4AF669FCA726}" srcOrd="0" destOrd="0" presId="urn:microsoft.com/office/officeart/2005/8/layout/cycle6"/>
    <dgm:cxn modelId="{3A04EF46-2550-4956-A7B2-CA9158E0D1B0}" srcId="{3346FA0E-871B-49DB-B41B-0402316E184B}" destId="{2C3C90DA-E2CE-499B-A28E-63737653D2FD}" srcOrd="3" destOrd="0" parTransId="{06D3315C-E989-4384-878C-95C70DA31D41}" sibTransId="{354E5EA5-B721-4709-8BF7-5DD161457C65}"/>
    <dgm:cxn modelId="{D773BA2D-B36B-4690-B8E2-0EBD13B70F9A}" srcId="{3346FA0E-871B-49DB-B41B-0402316E184B}" destId="{AE95D94B-AC46-468E-8BA6-7F46CFA7675E}" srcOrd="1" destOrd="0" parTransId="{5FE2BF53-2DB7-4CE7-A1F1-81F4998CFA29}" sibTransId="{9EE63C53-6D60-42AC-8659-689ADAC09249}"/>
    <dgm:cxn modelId="{1B430A11-C76B-4C35-8A20-584112402F66}" type="presOf" srcId="{9EE63C53-6D60-42AC-8659-689ADAC09249}" destId="{2B1D7832-C31D-4605-9288-6219D0B34D63}" srcOrd="0" destOrd="0" presId="urn:microsoft.com/office/officeart/2005/8/layout/cycle6"/>
    <dgm:cxn modelId="{82FC4DEC-9374-45D9-A2CC-4B81FED80DB6}" type="presOf" srcId="{AE95D94B-AC46-468E-8BA6-7F46CFA7675E}" destId="{D90F2A9D-65E4-42AC-8E64-D9AC70044A6E}" srcOrd="0" destOrd="0" presId="urn:microsoft.com/office/officeart/2005/8/layout/cycle6"/>
    <dgm:cxn modelId="{05A2B8F5-43AC-4766-8963-F1C02A57F937}" srcId="{3346FA0E-871B-49DB-B41B-0402316E184B}" destId="{A3F83555-D327-4C58-9A20-D57B5A9F91D5}" srcOrd="2" destOrd="0" parTransId="{718FCC92-9115-4E8D-A775-EADE37FE3780}" sibTransId="{DAF6D22F-C299-4E89-B047-7B4589D6FAD9}"/>
    <dgm:cxn modelId="{A8A3052B-6721-429E-8E2B-89464993E8E9}" type="presOf" srcId="{3346FA0E-871B-49DB-B41B-0402316E184B}" destId="{2E64169B-657E-4A4C-8F46-1265E5A4A138}" srcOrd="0" destOrd="0" presId="urn:microsoft.com/office/officeart/2005/8/layout/cycle6"/>
    <dgm:cxn modelId="{CFAB5866-4CE0-4563-84DE-B8CDF82C10C6}" type="presOf" srcId="{47BD725D-0E5C-4F03-9EDB-8F0DEB762E8B}" destId="{02C49C8C-3088-4278-9A8D-E375F99C24E0}" srcOrd="0" destOrd="0" presId="urn:microsoft.com/office/officeart/2005/8/layout/cycle6"/>
    <dgm:cxn modelId="{1E65ADFF-5AB7-49A2-8A3C-61C18F3C4FA3}" srcId="{3346FA0E-871B-49DB-B41B-0402316E184B}" destId="{A13CDB08-B1CC-4232-8AC8-DBEDB4EDA644}" srcOrd="0" destOrd="0" parTransId="{9A0F84F0-C301-43E7-BDA3-0B09151C068C}" sibTransId="{47BD725D-0E5C-4F03-9EDB-8F0DEB762E8B}"/>
    <dgm:cxn modelId="{5A9AE7AD-EF29-4BED-A8CF-9D9918EE15E8}" type="presOf" srcId="{A3F83555-D327-4C58-9A20-D57B5A9F91D5}" destId="{C54F8E44-CC0D-4C0E-8DD4-0EE047D11ACE}" srcOrd="0" destOrd="0" presId="urn:microsoft.com/office/officeart/2005/8/layout/cycle6"/>
    <dgm:cxn modelId="{C582F3A2-D849-452C-856C-47F6EB82C56C}" type="presOf" srcId="{354E5EA5-B721-4709-8BF7-5DD161457C65}" destId="{94560C8C-1A5A-4EF5-BC4D-A2EEE5EEF864}" srcOrd="0" destOrd="0" presId="urn:microsoft.com/office/officeart/2005/8/layout/cycle6"/>
    <dgm:cxn modelId="{9319C862-7D11-488A-915A-540622E49B37}" type="presOf" srcId="{A13CDB08-B1CC-4232-8AC8-DBEDB4EDA644}" destId="{FBFC9426-E0A0-4BDD-922C-F5A934C0E4EF}" srcOrd="0" destOrd="0" presId="urn:microsoft.com/office/officeart/2005/8/layout/cycle6"/>
    <dgm:cxn modelId="{9FB74AD6-E871-4BC7-8BDC-E4C24C96A22B}" type="presOf" srcId="{2C3C90DA-E2CE-499B-A28E-63737653D2FD}" destId="{84AEB691-C4F9-493E-A494-A197D92D1213}" srcOrd="0" destOrd="0" presId="urn:microsoft.com/office/officeart/2005/8/layout/cycle6"/>
    <dgm:cxn modelId="{9E9A9888-E410-4936-82D8-C964B97483F5}" type="presParOf" srcId="{2E64169B-657E-4A4C-8F46-1265E5A4A138}" destId="{FBFC9426-E0A0-4BDD-922C-F5A934C0E4EF}" srcOrd="0" destOrd="0" presId="urn:microsoft.com/office/officeart/2005/8/layout/cycle6"/>
    <dgm:cxn modelId="{6083C4B3-1898-40AD-80B5-9AAACCA2CCCB}" type="presParOf" srcId="{2E64169B-657E-4A4C-8F46-1265E5A4A138}" destId="{05AAF6BE-716C-4F74-90E2-89460671CC60}" srcOrd="1" destOrd="0" presId="urn:microsoft.com/office/officeart/2005/8/layout/cycle6"/>
    <dgm:cxn modelId="{1E479A85-C88F-405D-A975-F055D0A7ACA5}" type="presParOf" srcId="{2E64169B-657E-4A4C-8F46-1265E5A4A138}" destId="{02C49C8C-3088-4278-9A8D-E375F99C24E0}" srcOrd="2" destOrd="0" presId="urn:microsoft.com/office/officeart/2005/8/layout/cycle6"/>
    <dgm:cxn modelId="{2757B8BD-9A08-4448-9DF3-86E204C3F4CF}" type="presParOf" srcId="{2E64169B-657E-4A4C-8F46-1265E5A4A138}" destId="{D90F2A9D-65E4-42AC-8E64-D9AC70044A6E}" srcOrd="3" destOrd="0" presId="urn:microsoft.com/office/officeart/2005/8/layout/cycle6"/>
    <dgm:cxn modelId="{F53045D7-AFDD-4E07-B4EA-9E18C74EBA16}" type="presParOf" srcId="{2E64169B-657E-4A4C-8F46-1265E5A4A138}" destId="{25BFF57C-F9D2-4A72-AB4A-B2EE94A64DB5}" srcOrd="4" destOrd="0" presId="urn:microsoft.com/office/officeart/2005/8/layout/cycle6"/>
    <dgm:cxn modelId="{C0D99964-D7E7-4344-A846-B4EFB8477AE5}" type="presParOf" srcId="{2E64169B-657E-4A4C-8F46-1265E5A4A138}" destId="{2B1D7832-C31D-4605-9288-6219D0B34D63}" srcOrd="5" destOrd="0" presId="urn:microsoft.com/office/officeart/2005/8/layout/cycle6"/>
    <dgm:cxn modelId="{B143032A-8F84-49E8-B90C-F2C435E0619D}" type="presParOf" srcId="{2E64169B-657E-4A4C-8F46-1265E5A4A138}" destId="{C54F8E44-CC0D-4C0E-8DD4-0EE047D11ACE}" srcOrd="6" destOrd="0" presId="urn:microsoft.com/office/officeart/2005/8/layout/cycle6"/>
    <dgm:cxn modelId="{A97DBD5B-6941-45F6-B991-D1B77E4C8C0E}" type="presParOf" srcId="{2E64169B-657E-4A4C-8F46-1265E5A4A138}" destId="{BF9E9B86-DA4A-4609-8E8D-A5C2B0194B5F}" srcOrd="7" destOrd="0" presId="urn:microsoft.com/office/officeart/2005/8/layout/cycle6"/>
    <dgm:cxn modelId="{94C9BE7D-439C-4EBA-A0A4-5EFDF7E4FDBB}" type="presParOf" srcId="{2E64169B-657E-4A4C-8F46-1265E5A4A138}" destId="{63A79FC1-1534-49A0-B628-4AF669FCA726}" srcOrd="8" destOrd="0" presId="urn:microsoft.com/office/officeart/2005/8/layout/cycle6"/>
    <dgm:cxn modelId="{B87E734E-30DC-4E84-BFFA-D6E709F19692}" type="presParOf" srcId="{2E64169B-657E-4A4C-8F46-1265E5A4A138}" destId="{84AEB691-C4F9-493E-A494-A197D92D1213}" srcOrd="9" destOrd="0" presId="urn:microsoft.com/office/officeart/2005/8/layout/cycle6"/>
    <dgm:cxn modelId="{82D94520-1A2D-435E-97D0-44779C5BA845}" type="presParOf" srcId="{2E64169B-657E-4A4C-8F46-1265E5A4A138}" destId="{7780CF6C-3ABC-4D17-8626-6B8E455E1DC9}" srcOrd="10" destOrd="0" presId="urn:microsoft.com/office/officeart/2005/8/layout/cycle6"/>
    <dgm:cxn modelId="{F3F7CF48-F28A-49A2-AC1E-8133CD7FD93D}" type="presParOf" srcId="{2E64169B-657E-4A4C-8F46-1265E5A4A138}" destId="{94560C8C-1A5A-4EF5-BC4D-A2EEE5EEF864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9D535-36FF-47E6-81BD-F296E1F6B5EA}">
      <dsp:nvSpPr>
        <dsp:cNvPr id="0" name=""/>
        <dsp:cNvSpPr/>
      </dsp:nvSpPr>
      <dsp:spPr>
        <a:xfrm>
          <a:off x="2467638" y="1139774"/>
          <a:ext cx="3976174" cy="3680274"/>
        </a:xfrm>
        <a:prstGeom prst="ellipse">
          <a:avLst/>
        </a:prstGeom>
        <a:solidFill>
          <a:srgbClr val="FFC000">
            <a:alpha val="50000"/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Taberna 7 Hermanos</a:t>
          </a:r>
        </a:p>
      </dsp:txBody>
      <dsp:txXfrm>
        <a:off x="3049935" y="1678738"/>
        <a:ext cx="2811580" cy="2602346"/>
      </dsp:txXfrm>
    </dsp:sp>
    <dsp:sp modelId="{8190C082-B355-4376-B7F5-202B0D39775E}">
      <dsp:nvSpPr>
        <dsp:cNvPr id="0" name=""/>
        <dsp:cNvSpPr/>
      </dsp:nvSpPr>
      <dsp:spPr>
        <a:xfrm>
          <a:off x="1965845" y="761205"/>
          <a:ext cx="1820879" cy="1642649"/>
        </a:xfrm>
        <a:prstGeom prst="ellipse">
          <a:avLst/>
        </a:prstGeom>
        <a:solidFill>
          <a:srgbClr val="FFC000">
            <a:alpha val="50000"/>
            <a:hueOff val="3465231"/>
            <a:satOff val="-15989"/>
            <a:lumOff val="588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UPTM</a:t>
          </a:r>
        </a:p>
      </dsp:txBody>
      <dsp:txXfrm>
        <a:off x="2232507" y="1001765"/>
        <a:ext cx="1287555" cy="1161529"/>
      </dsp:txXfrm>
    </dsp:sp>
    <dsp:sp modelId="{F7DEF533-E609-4962-8670-A8E7250195A4}">
      <dsp:nvSpPr>
        <dsp:cNvPr id="0" name=""/>
        <dsp:cNvSpPr/>
      </dsp:nvSpPr>
      <dsp:spPr>
        <a:xfrm>
          <a:off x="4236461" y="265589"/>
          <a:ext cx="2449530" cy="2217552"/>
        </a:xfrm>
        <a:prstGeom prst="ellipse">
          <a:avLst/>
        </a:prstGeom>
        <a:solidFill>
          <a:srgbClr val="FFC000">
            <a:alpha val="50000"/>
            <a:hueOff val="6930461"/>
            <a:satOff val="-31979"/>
            <a:lumOff val="1177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Clientes</a:t>
          </a:r>
        </a:p>
      </dsp:txBody>
      <dsp:txXfrm>
        <a:off x="4595186" y="590342"/>
        <a:ext cx="1732080" cy="1568046"/>
      </dsp:txXfrm>
    </dsp:sp>
    <dsp:sp modelId="{58F4AE15-BF2E-47A2-A2DE-6B993A91ADED}">
      <dsp:nvSpPr>
        <dsp:cNvPr id="0" name=""/>
        <dsp:cNvSpPr/>
      </dsp:nvSpPr>
      <dsp:spPr>
        <a:xfrm>
          <a:off x="800246" y="3609828"/>
          <a:ext cx="3843525" cy="1544661"/>
        </a:xfrm>
        <a:prstGeom prst="ellipse">
          <a:avLst/>
        </a:prstGeom>
        <a:solidFill>
          <a:srgbClr val="FFC000">
            <a:alpha val="50000"/>
            <a:hueOff val="10395692"/>
            <a:satOff val="-47968"/>
            <a:lumOff val="1765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Proveedores</a:t>
          </a:r>
        </a:p>
      </dsp:txBody>
      <dsp:txXfrm>
        <a:off x="1363117" y="3836038"/>
        <a:ext cx="2717783" cy="1092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C9426-E0A0-4BDD-922C-F5A934C0E4EF}">
      <dsp:nvSpPr>
        <dsp:cNvPr id="0" name=""/>
        <dsp:cNvSpPr/>
      </dsp:nvSpPr>
      <dsp:spPr>
        <a:xfrm>
          <a:off x="3092702" y="1244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Inicio</a:t>
          </a:r>
        </a:p>
      </dsp:txBody>
      <dsp:txXfrm>
        <a:off x="3152294" y="60836"/>
        <a:ext cx="1758880" cy="1101557"/>
      </dsp:txXfrm>
    </dsp:sp>
    <dsp:sp modelId="{02C49C8C-3088-4278-9A8D-E375F99C24E0}">
      <dsp:nvSpPr>
        <dsp:cNvPr id="0" name=""/>
        <dsp:cNvSpPr/>
      </dsp:nvSpPr>
      <dsp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2968721" y="239209"/>
              </a:moveTo>
              <a:arcTo wR="2016171" hR="2016171" stAng="17891627" swAng="2624947"/>
            </a:path>
          </a:pathLst>
        </a:custGeom>
        <a:noFill/>
        <a:ln w="88900" cap="flat" cmpd="sng" algn="ctr">
          <a:solidFill>
            <a:srgbClr val="54BCDF">
              <a:hueOff val="0"/>
              <a:satOff val="0"/>
              <a:lum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F2A9D-65E4-42AC-8E64-D9AC70044A6E}">
      <dsp:nvSpPr>
        <dsp:cNvPr id="0" name=""/>
        <dsp:cNvSpPr/>
      </dsp:nvSpPr>
      <dsp:spPr>
        <a:xfrm>
          <a:off x="5108874" y="2017415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1596027"/>
                <a:satOff val="-4850"/>
                <a:lumOff val="-65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1596027"/>
                <a:satOff val="-4850"/>
                <a:lumOff val="-65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Elaboración</a:t>
          </a:r>
        </a:p>
      </dsp:txBody>
      <dsp:txXfrm>
        <a:off x="5168466" y="2077007"/>
        <a:ext cx="1758880" cy="1101557"/>
      </dsp:txXfrm>
    </dsp:sp>
    <dsp:sp modelId="{2B1D7832-C31D-4605-9288-6219D0B34D63}">
      <dsp:nvSpPr>
        <dsp:cNvPr id="0" name=""/>
        <dsp:cNvSpPr/>
      </dsp:nvSpPr>
      <dsp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3933041" y="2641113"/>
              </a:moveTo>
              <a:arcTo wR="2016171" hR="2016171" stAng="1083426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F8E44-CC0D-4C0E-8DD4-0EE047D11ACE}">
      <dsp:nvSpPr>
        <dsp:cNvPr id="0" name=""/>
        <dsp:cNvSpPr/>
      </dsp:nvSpPr>
      <dsp:spPr>
        <a:xfrm>
          <a:off x="3092702" y="4033586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3192055"/>
                <a:satOff val="-9701"/>
                <a:lumOff val="-131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3192055"/>
                <a:satOff val="-9701"/>
                <a:lumOff val="-131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construcción </a:t>
          </a:r>
        </a:p>
      </dsp:txBody>
      <dsp:txXfrm>
        <a:off x="3152294" y="4093178"/>
        <a:ext cx="1758880" cy="1101557"/>
      </dsp:txXfrm>
    </dsp:sp>
    <dsp:sp modelId="{63A79FC1-1534-49A0-B628-4AF669FCA726}">
      <dsp:nvSpPr>
        <dsp:cNvPr id="0" name=""/>
        <dsp:cNvSpPr/>
      </dsp:nvSpPr>
      <dsp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1063620" y="3793133"/>
              </a:moveTo>
              <a:arcTo wR="2016171" hR="2016171" stAng="7091627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EB691-C4F9-493E-A494-A197D92D1213}">
      <dsp:nvSpPr>
        <dsp:cNvPr id="0" name=""/>
        <dsp:cNvSpPr/>
      </dsp:nvSpPr>
      <dsp:spPr>
        <a:xfrm>
          <a:off x="1076531" y="2017415"/>
          <a:ext cx="1878064" cy="1220741"/>
        </a:xfrm>
        <a:prstGeom prst="roundRect">
          <a:avLst/>
        </a:prstGeom>
        <a:gradFill rotWithShape="0">
          <a:gsLst>
            <a:gs pos="0">
              <a:srgbClr val="54BCDF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rgbClr>
            </a:gs>
            <a:gs pos="100000">
              <a:srgbClr val="54BCDF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>
              <a:solidFill>
                <a:sysClr val="window" lastClr="FFFFFF"/>
              </a:solidFill>
              <a:latin typeface="Tw Cen MT" panose="020B0602020104020603"/>
              <a:ea typeface="+mn-ea"/>
              <a:cs typeface="+mn-cs"/>
            </a:rPr>
            <a:t>Fase de Transición</a:t>
          </a:r>
        </a:p>
      </dsp:txBody>
      <dsp:txXfrm>
        <a:off x="1136123" y="2077007"/>
        <a:ext cx="1758880" cy="1101557"/>
      </dsp:txXfrm>
    </dsp:sp>
    <dsp:sp modelId="{94560C8C-1A5A-4EF5-BC4D-A2EEE5EEF864}">
      <dsp:nvSpPr>
        <dsp:cNvPr id="0" name=""/>
        <dsp:cNvSpPr/>
      </dsp:nvSpPr>
      <dsp:spPr>
        <a:xfrm>
          <a:off x="2015563" y="611615"/>
          <a:ext cx="4032342" cy="4032342"/>
        </a:xfrm>
        <a:custGeom>
          <a:avLst/>
          <a:gdLst/>
          <a:ahLst/>
          <a:cxnLst/>
          <a:rect l="0" t="0" r="0" b="0"/>
          <a:pathLst>
            <a:path>
              <a:moveTo>
                <a:pt x="99300" y="1391229"/>
              </a:moveTo>
              <a:arcTo wR="2016171" hR="2016171" stAng="11883426" swAng="2624947"/>
            </a:path>
          </a:pathLst>
        </a:custGeom>
        <a:noFill/>
        <a:ln w="88900" cap="flat" cmpd="sng" algn="ctr">
          <a:solidFill>
            <a:srgbClr val="54BCDF">
              <a:lumMod val="7500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8F422-D7A7-4511-971D-96A5553C657A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7BB46-833D-4EE9-A329-6B631343752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3163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67694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3494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11807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1708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21710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28140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87BB46-833D-4EE9-A329-6B6313437522}" type="slidenum">
              <a:rPr lang="es-VE" smtClean="0"/>
              <a:t>16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9234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6844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0472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9059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0523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461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677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7968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6572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713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8802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2245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AB9A4-A178-47B7-9A34-8A4252FD0397}" type="datetimeFigureOut">
              <a:rPr lang="es-VE" smtClean="0"/>
              <a:t>16/08/2024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135B8-343C-422D-9198-83718A450CD4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1681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3" y="274351"/>
            <a:ext cx="1602442" cy="145004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Rectángulo 4"/>
          <p:cNvSpPr/>
          <p:nvPr/>
        </p:nvSpPr>
        <p:spPr>
          <a:xfrm>
            <a:off x="2658986" y="299010"/>
            <a:ext cx="6849373" cy="1887696"/>
          </a:xfrm>
          <a:prstGeom prst="rect">
            <a:avLst/>
          </a:prstGeom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cs typeface="Arial" panose="020B0604020202020204" pitchFamily="34" charset="0"/>
              </a:rPr>
              <a:t>República Bolivariana de Venezuela</a:t>
            </a:r>
          </a:p>
          <a:p>
            <a:pPr algn="ctr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cs typeface="Arial" panose="020B0604020202020204" pitchFamily="34" charset="0"/>
              </a:rPr>
              <a:t>Ministerio del Poder Popular para la Educación Universitaria</a:t>
            </a:r>
          </a:p>
          <a:p>
            <a:pPr algn="ctr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cs typeface="Arial" panose="020B0604020202020204" pitchFamily="34" charset="0"/>
              </a:rPr>
              <a:t>Ciencia y Tecnología</a:t>
            </a:r>
          </a:p>
          <a:p>
            <a:pPr algn="ctr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cs typeface="Arial" panose="020B0604020202020204" pitchFamily="34" charset="0"/>
              </a:rPr>
              <a:t>Universidad Politécnica Territorial del Estado Mérida</a:t>
            </a:r>
          </a:p>
          <a:p>
            <a:pPr algn="ctr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cs typeface="Arial" panose="020B0604020202020204" pitchFamily="34" charset="0"/>
              </a:rPr>
              <a:t>Kléber Ramírez/Núcleo Tucaní</a:t>
            </a:r>
          </a:p>
        </p:txBody>
      </p:sp>
      <p:sp>
        <p:nvSpPr>
          <p:cNvPr id="6" name="Rectángulo 5"/>
          <p:cNvSpPr/>
          <p:nvPr/>
        </p:nvSpPr>
        <p:spPr>
          <a:xfrm>
            <a:off x="728382" y="2210961"/>
            <a:ext cx="10710580" cy="15696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>
                <a:latin typeface="Agency FB" panose="020B0503020202020204" pitchFamily="34" charset="0"/>
              </a:rPr>
              <a:t>Sistema Automatizado de Registro y Control de Compra y Venta en la “Taberna Los 7 Hermanos”</a:t>
            </a:r>
          </a:p>
        </p:txBody>
      </p:sp>
      <p:sp>
        <p:nvSpPr>
          <p:cNvPr id="7" name="Rectángulo 6"/>
          <p:cNvSpPr/>
          <p:nvPr/>
        </p:nvSpPr>
        <p:spPr>
          <a:xfrm>
            <a:off x="728383" y="4713573"/>
            <a:ext cx="10710581" cy="1918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TUTOR(ES):						AUTORES:</a:t>
            </a:r>
          </a:p>
          <a:p>
            <a:pPr algn="just">
              <a:spcAft>
                <a:spcPts val="800"/>
              </a:spcAft>
            </a:pP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Ing. Emerson </a:t>
            </a: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Navarro					Daniel Mancilla C.I. 27.668.711</a:t>
            </a:r>
          </a:p>
          <a:p>
            <a:pPr algn="just">
              <a:spcAft>
                <a:spcPts val="800"/>
              </a:spcAft>
            </a:pP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Ing. 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Francisco Berrios					</a:t>
            </a: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Franyer 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Sánchez C.I. 28.072.391</a:t>
            </a:r>
          </a:p>
          <a:p>
            <a:pPr algn="just">
              <a:spcAft>
                <a:spcPts val="800"/>
              </a:spcAft>
            </a:pP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					</a:t>
            </a:r>
            <a:r>
              <a:rPr lang="es-VE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Sección</a:t>
            </a:r>
            <a:r>
              <a:rPr lang="es-VE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VE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s-VE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s-VE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T2-T3) 	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VE" sz="16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800"/>
              </a:spcAft>
            </a:pP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Enero 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 </a:t>
            </a: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2023</a:t>
            </a:r>
            <a:endParaRPr lang="es-VE" sz="16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521" y="274351"/>
            <a:ext cx="1602442" cy="142845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304548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45304" y="3044279"/>
            <a:ext cx="31017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400" b="1" u="sng" dirty="0" smtClean="0">
                <a:effectLst>
                  <a:reflection blurRad="6350" stA="53000" endA="300" endPos="35500" dir="5400000" sy="-90000" algn="bl"/>
                </a:effectLst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INTRODUCCIÓN</a:t>
            </a:r>
            <a:endParaRPr lang="es-VE" sz="2400" b="1" u="sng" dirty="0">
              <a:effectLst>
                <a:reflection blurRad="6350" stA="53000" endA="300" endPos="35500" dir="5400000" sy="-90000" algn="bl"/>
              </a:effectLst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Abrir llave 4"/>
          <p:cNvSpPr/>
          <p:nvPr/>
        </p:nvSpPr>
        <p:spPr>
          <a:xfrm>
            <a:off x="3532177" y="276045"/>
            <a:ext cx="540000" cy="6349041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bg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072177" y="858610"/>
            <a:ext cx="2811702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Capítulo 1</a:t>
            </a:r>
          </a:p>
        </p:txBody>
      </p:sp>
      <p:sp>
        <p:nvSpPr>
          <p:cNvPr id="8" name="Rectángulo 7"/>
          <p:cNvSpPr/>
          <p:nvPr/>
        </p:nvSpPr>
        <p:spPr>
          <a:xfrm>
            <a:off x="4072177" y="2933782"/>
            <a:ext cx="2811702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Capítulo </a:t>
            </a:r>
            <a:r>
              <a:rPr lang="es-VE" sz="36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VE" sz="3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072177" y="5217435"/>
            <a:ext cx="2811702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Capítulo </a:t>
            </a:r>
            <a:r>
              <a:rPr lang="es-VE" sz="36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VE" sz="3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brir llave 10"/>
          <p:cNvSpPr/>
          <p:nvPr/>
        </p:nvSpPr>
        <p:spPr>
          <a:xfrm>
            <a:off x="7213822" y="305774"/>
            <a:ext cx="420113" cy="1752006"/>
          </a:xfrm>
          <a:prstGeom prst="leftBrace">
            <a:avLst>
              <a:gd name="adj1" fmla="val 51214"/>
              <a:gd name="adj2" fmla="val 49815"/>
            </a:avLst>
          </a:prstGeom>
          <a:ln w="76200">
            <a:solidFill>
              <a:srgbClr val="2980B9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843105" y="396946"/>
            <a:ext cx="4130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PARTE A: LA COMUNIDAD</a:t>
            </a:r>
          </a:p>
          <a:p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PARTE B: DIAGNÓSTICO</a:t>
            </a:r>
            <a:endParaRPr lang="es-V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7843105" y="2991856"/>
            <a:ext cx="3699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MARCO TEÓRICO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8015631" y="5063546"/>
            <a:ext cx="3353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MARCO METODOLÓGICO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Conector recto de flecha 21"/>
          <p:cNvCxnSpPr>
            <a:stCxn id="8" idx="3"/>
            <a:endCxn id="16" idx="1"/>
          </p:cNvCxnSpPr>
          <p:nvPr/>
        </p:nvCxnSpPr>
        <p:spPr>
          <a:xfrm flipV="1">
            <a:off x="6883879" y="3253466"/>
            <a:ext cx="959226" cy="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9" idx="3"/>
            <a:endCxn id="17" idx="1"/>
          </p:cNvCxnSpPr>
          <p:nvPr/>
        </p:nvCxnSpPr>
        <p:spPr>
          <a:xfrm flipV="1">
            <a:off x="6883879" y="5540600"/>
            <a:ext cx="1131752" cy="1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9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316503" y="1140398"/>
            <a:ext cx="755899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8800" b="1" u="sng" dirty="0">
                <a:latin typeface="Agency FB" panose="020B0503020202020204" pitchFamily="34" charset="0"/>
              </a:rPr>
              <a:t>CAPÍTULO 1</a:t>
            </a:r>
            <a:br>
              <a:rPr lang="es-VE" sz="8800" b="1" u="sng" dirty="0">
                <a:latin typeface="Agency FB" panose="020B0503020202020204" pitchFamily="34" charset="0"/>
              </a:rPr>
            </a:br>
            <a:r>
              <a:rPr lang="es-VE" sz="6600" b="1" u="sng" dirty="0" smtClean="0">
                <a:latin typeface="Agency FB" panose="020B0503020202020204" pitchFamily="34" charset="0"/>
              </a:rPr>
              <a:t>EL PROYECTO SOCIO TECNOLÓGICO</a:t>
            </a:r>
            <a:endParaRPr lang="es-VE" sz="6600" b="1" u="sng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26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403927" y="70926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A: LA COMUNIDAD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440086" y="1966950"/>
            <a:ext cx="2563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Nombre de la comunidad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31422" y="3930900"/>
            <a:ext cx="2180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Taberna Los 7 Hermanos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086117" y="2043536"/>
            <a:ext cx="2180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Ubicación geográfica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3194883" y="3930900"/>
            <a:ext cx="5963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Estado: </a:t>
            </a: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Mérida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Municipio: </a:t>
            </a: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Caracciolo Parra Olmedo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Parroquia: </a:t>
            </a: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Florencio Ramírez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Dirección: </a:t>
            </a: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 Pinar, Carretera Panamericana</a:t>
            </a:r>
            <a:r>
              <a:rPr lang="es-V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V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9540814" y="1966950"/>
            <a:ext cx="2180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 de comunidad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9016515" y="3930900"/>
            <a:ext cx="3229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Privada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 gubernamental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ector recto de flecha 11"/>
          <p:cNvCxnSpPr>
            <a:stCxn id="6" idx="2"/>
            <a:endCxn id="7" idx="0"/>
          </p:cNvCxnSpPr>
          <p:nvPr/>
        </p:nvCxnSpPr>
        <p:spPr>
          <a:xfrm>
            <a:off x="1721817" y="2921057"/>
            <a:ext cx="0" cy="1009843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>
            <a:stCxn id="8" idx="2"/>
            <a:endCxn id="9" idx="0"/>
          </p:cNvCxnSpPr>
          <p:nvPr/>
        </p:nvCxnSpPr>
        <p:spPr>
          <a:xfrm>
            <a:off x="6176512" y="2997643"/>
            <a:ext cx="1" cy="933257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stCxn id="10" idx="2"/>
            <a:endCxn id="11" idx="0"/>
          </p:cNvCxnSpPr>
          <p:nvPr/>
        </p:nvCxnSpPr>
        <p:spPr>
          <a:xfrm>
            <a:off x="10631209" y="2921057"/>
            <a:ext cx="1" cy="1009843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Abrir llave 21"/>
          <p:cNvSpPr/>
          <p:nvPr/>
        </p:nvSpPr>
        <p:spPr>
          <a:xfrm rot="5400000">
            <a:off x="5907535" y="-2563114"/>
            <a:ext cx="303905" cy="8909394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3" name="Conector recto 2"/>
          <p:cNvCxnSpPr/>
          <p:nvPr/>
        </p:nvCxnSpPr>
        <p:spPr>
          <a:xfrm>
            <a:off x="3003547" y="1966950"/>
            <a:ext cx="0" cy="464088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8859919" y="1966950"/>
            <a:ext cx="0" cy="464088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55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43" y="1777040"/>
            <a:ext cx="8528224" cy="45202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B495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ángulo 5"/>
          <p:cNvSpPr/>
          <p:nvPr/>
        </p:nvSpPr>
        <p:spPr>
          <a:xfrm>
            <a:off x="9309709" y="4804122"/>
            <a:ext cx="260957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#1, </a:t>
            </a: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Croquis</a:t>
            </a:r>
            <a:endParaRPr lang="es-VE" sz="16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</a:rPr>
              <a:t>Fuente:</a:t>
            </a:r>
          </a:p>
          <a:p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</a:rPr>
              <a:t>   Mancilla 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</a:rPr>
              <a:t>D. y</a:t>
            </a:r>
            <a:endParaRPr lang="es-VE" b="1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</a:rPr>
              <a:t>  Sánchez 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</a:rPr>
              <a:t>F. </a:t>
            </a:r>
            <a:endParaRPr lang="es-VE" b="1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VE" b="1" dirty="0" smtClean="0">
                <a:latin typeface="Arial" panose="020B0604020202020204" pitchFamily="34" charset="0"/>
                <a:ea typeface="Calibri" panose="020F0502020204030204" pitchFamily="34" charset="0"/>
              </a:rPr>
              <a:t>Año</a:t>
            </a:r>
            <a:r>
              <a:rPr lang="es-VE" b="1" dirty="0">
                <a:latin typeface="Arial" panose="020B0604020202020204" pitchFamily="34" charset="0"/>
                <a:ea typeface="Calibri" panose="020F0502020204030204" pitchFamily="34" charset="0"/>
              </a:rPr>
              <a:t>: 2022</a:t>
            </a:r>
            <a:endParaRPr lang="es-VE" b="1" dirty="0"/>
          </a:p>
        </p:txBody>
      </p:sp>
      <p:sp>
        <p:nvSpPr>
          <p:cNvPr id="7" name="Rectángulo 6"/>
          <p:cNvSpPr/>
          <p:nvPr/>
        </p:nvSpPr>
        <p:spPr>
          <a:xfrm>
            <a:off x="3403928" y="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A: LA COMUNIDAD</a:t>
            </a:r>
          </a:p>
        </p:txBody>
      </p:sp>
    </p:spTree>
    <p:extLst>
      <p:ext uri="{BB962C8B-B14F-4D97-AF65-F5344CB8AC3E}">
        <p14:creationId xmlns:p14="http://schemas.microsoft.com/office/powerpoint/2010/main" val="327524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973624" y="1737378"/>
            <a:ext cx="224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Misión</a:t>
            </a:r>
            <a:endParaRPr lang="es-VE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872437" y="1737377"/>
            <a:ext cx="2066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Visión</a:t>
            </a:r>
            <a:endParaRPr lang="es-VE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>
            <a:off x="6095998" y="1442192"/>
            <a:ext cx="1" cy="5148389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 flipH="1" flipV="1">
            <a:off x="669983" y="2674189"/>
            <a:ext cx="10852030" cy="0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ángulo 14"/>
          <p:cNvSpPr/>
          <p:nvPr/>
        </p:nvSpPr>
        <p:spPr>
          <a:xfrm>
            <a:off x="669983" y="3495519"/>
            <a:ext cx="504093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VE" sz="3200" dirty="0">
                <a:latin typeface="Arial" panose="020B0604020202020204" pitchFamily="34" charset="0"/>
                <a:ea typeface="Calibri" panose="020F0502020204030204" pitchFamily="34" charset="0"/>
              </a:rPr>
              <a:t>	Llevar a cabo el desarrollo de un programa que facilite la </a:t>
            </a:r>
            <a:r>
              <a:rPr lang="es-VE" sz="3200" dirty="0" smtClean="0">
                <a:latin typeface="Arial" panose="020B0604020202020204" pitchFamily="34" charset="0"/>
                <a:ea typeface="Calibri" panose="020F0502020204030204" pitchFamily="34" charset="0"/>
              </a:rPr>
              <a:t>compra y venta </a:t>
            </a:r>
            <a:r>
              <a:rPr lang="es-VE" sz="3200" dirty="0">
                <a:latin typeface="Arial" panose="020B0604020202020204" pitchFamily="34" charset="0"/>
                <a:ea typeface="Calibri" panose="020F0502020204030204" pitchFamily="34" charset="0"/>
              </a:rPr>
              <a:t>de </a:t>
            </a:r>
            <a:r>
              <a:rPr lang="es-VE" sz="3200" dirty="0" smtClean="0">
                <a:latin typeface="Arial" panose="020B0604020202020204" pitchFamily="34" charset="0"/>
                <a:ea typeface="Calibri" panose="020F0502020204030204" pitchFamily="34" charset="0"/>
              </a:rPr>
              <a:t>productos.</a:t>
            </a:r>
            <a:endParaRPr lang="es-VE" sz="32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6481076" y="3040034"/>
            <a:ext cx="523288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es-VE" sz="2800" dirty="0" smtClean="0">
                <a:latin typeface="Arial" panose="020B0604020202020204" pitchFamily="34" charset="0"/>
                <a:ea typeface="Calibri" panose="020F0502020204030204" pitchFamily="34" charset="0"/>
              </a:rPr>
              <a:t>Tener una mejor gestión de las ventas, llevando un control de las entradas y salidas de productos, para ser más eficaz y eficiente en la atención al cliente.</a:t>
            </a:r>
            <a:endParaRPr lang="es-VE" sz="28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3440438" y="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A: LA COMUNIDAD</a:t>
            </a:r>
          </a:p>
        </p:txBody>
      </p:sp>
    </p:spTree>
    <p:extLst>
      <p:ext uri="{BB962C8B-B14F-4D97-AF65-F5344CB8AC3E}">
        <p14:creationId xmlns:p14="http://schemas.microsoft.com/office/powerpoint/2010/main" val="253401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2966947344"/>
              </p:ext>
            </p:extLst>
          </p:nvPr>
        </p:nvGraphicFramePr>
        <p:xfrm>
          <a:off x="465222" y="1026695"/>
          <a:ext cx="6795814" cy="5529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ángulo 6"/>
          <p:cNvSpPr/>
          <p:nvPr/>
        </p:nvSpPr>
        <p:spPr>
          <a:xfrm>
            <a:off x="7597919" y="4571558"/>
            <a:ext cx="3437712" cy="1984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#2 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Diagrama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Venn</a:t>
            </a:r>
            <a:endParaRPr lang="es-VE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Fuente: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Mancilla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Sánchez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Año: </a:t>
            </a:r>
            <a:r>
              <a:rPr lang="es-ES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2022</a:t>
            </a:r>
            <a:endParaRPr lang="es-VE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A: LA COMUNIDAD</a:t>
            </a:r>
          </a:p>
        </p:txBody>
      </p:sp>
    </p:spTree>
    <p:extLst>
      <p:ext uri="{BB962C8B-B14F-4D97-AF65-F5344CB8AC3E}">
        <p14:creationId xmlns:p14="http://schemas.microsoft.com/office/powerpoint/2010/main" val="215730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rir llave 10"/>
          <p:cNvSpPr/>
          <p:nvPr/>
        </p:nvSpPr>
        <p:spPr>
          <a:xfrm rot="16200000">
            <a:off x="5617139" y="-1103633"/>
            <a:ext cx="568956" cy="10906294"/>
          </a:xfrm>
          <a:prstGeom prst="leftBrace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CuadroTexto 1"/>
          <p:cNvSpPr txBox="1"/>
          <p:nvPr/>
        </p:nvSpPr>
        <p:spPr>
          <a:xfrm>
            <a:off x="3919819" y="2391688"/>
            <a:ext cx="4416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un sistema digital de registro y control de productos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3165" y="3738575"/>
            <a:ext cx="2466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Registro manual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769567" y="4628086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Inventario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69567" y="5368501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Ventas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829639" y="6108916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4129706" y="3887848"/>
            <a:ext cx="199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Ineficiente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4222070" y="4807975"/>
            <a:ext cx="190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Costoso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224147" y="5825922"/>
            <a:ext cx="190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Inseguro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ector recto de flecha 18"/>
          <p:cNvCxnSpPr>
            <a:stCxn id="2" idx="1"/>
            <a:endCxn id="12" idx="0"/>
          </p:cNvCxnSpPr>
          <p:nvPr/>
        </p:nvCxnSpPr>
        <p:spPr>
          <a:xfrm flipH="1">
            <a:off x="2186168" y="2807187"/>
            <a:ext cx="1733651" cy="931388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Abrir corchete 6"/>
          <p:cNvSpPr/>
          <p:nvPr/>
        </p:nvSpPr>
        <p:spPr>
          <a:xfrm>
            <a:off x="654981" y="3933645"/>
            <a:ext cx="298184" cy="2636936"/>
          </a:xfrm>
          <a:prstGeom prst="leftBracket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8" name="Abrir llave 7"/>
          <p:cNvSpPr/>
          <p:nvPr/>
        </p:nvSpPr>
        <p:spPr>
          <a:xfrm>
            <a:off x="3653998" y="3785786"/>
            <a:ext cx="589797" cy="2506045"/>
          </a:xfrm>
          <a:prstGeom prst="leftBrace">
            <a:avLst>
              <a:gd name="adj1" fmla="val 116299"/>
              <a:gd name="adj2" fmla="val 6208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6" name="CuadroTexto 25"/>
          <p:cNvSpPr txBox="1"/>
          <p:nvPr/>
        </p:nvSpPr>
        <p:spPr>
          <a:xfrm>
            <a:off x="8438038" y="3738575"/>
            <a:ext cx="3356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Registro automatizado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9511300" y="4351313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Inventario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9513654" y="4845356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Ventas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9513654" y="5340074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7240669" y="5801739"/>
            <a:ext cx="199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Eficiente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7283801" y="4622077"/>
            <a:ext cx="190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Seguro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Conector recto de flecha 35"/>
          <p:cNvCxnSpPr>
            <a:stCxn id="2" idx="3"/>
            <a:endCxn id="26" idx="0"/>
          </p:cNvCxnSpPr>
          <p:nvPr/>
        </p:nvCxnSpPr>
        <p:spPr>
          <a:xfrm>
            <a:off x="8336543" y="2807187"/>
            <a:ext cx="1779654" cy="931388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Abrir corchete 37"/>
          <p:cNvSpPr/>
          <p:nvPr/>
        </p:nvSpPr>
        <p:spPr>
          <a:xfrm flipH="1">
            <a:off x="11728846" y="3927265"/>
            <a:ext cx="298184" cy="2636936"/>
          </a:xfrm>
          <a:prstGeom prst="leftBracket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9" name="Abrir llave 38"/>
          <p:cNvSpPr/>
          <p:nvPr/>
        </p:nvSpPr>
        <p:spPr>
          <a:xfrm flipH="1">
            <a:off x="8953350" y="4479489"/>
            <a:ext cx="279694" cy="2031936"/>
          </a:xfrm>
          <a:prstGeom prst="leftBrace">
            <a:avLst>
              <a:gd name="adj1" fmla="val 110689"/>
              <a:gd name="adj2" fmla="val 44531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4" name="CuadroTexto 43"/>
          <p:cNvSpPr txBox="1"/>
          <p:nvPr/>
        </p:nvSpPr>
        <p:spPr>
          <a:xfrm>
            <a:off x="9511275" y="5834792"/>
            <a:ext cx="2435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Proovedoores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1660579" y="1460586"/>
            <a:ext cx="8870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  <a:endParaRPr lang="es-VE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70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/>
          <p:cNvSpPr>
            <a:spLocks/>
          </p:cNvSpPr>
          <p:nvPr/>
        </p:nvSpPr>
        <p:spPr>
          <a:xfrm>
            <a:off x="4495800" y="2513854"/>
            <a:ext cx="3276072" cy="190944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Falta de sistema de automatizado de </a:t>
            </a: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 y venta</a:t>
            </a:r>
            <a:endParaRPr lang="es-VE" b="1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8"/>
          <p:cNvCxnSpPr>
            <a:cxnSpLocks/>
            <a:stCxn id="8" idx="2"/>
          </p:cNvCxnSpPr>
          <p:nvPr/>
        </p:nvCxnSpPr>
        <p:spPr>
          <a:xfrm flipH="1">
            <a:off x="4215912" y="3468576"/>
            <a:ext cx="279888" cy="0"/>
          </a:xfrm>
          <a:prstGeom prst="line">
            <a:avLst/>
          </a:prstGeom>
          <a:noFill/>
          <a:ln w="50800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10" name="Conector recto 9"/>
          <p:cNvCxnSpPr>
            <a:cxnSpLocks/>
          </p:cNvCxnSpPr>
          <p:nvPr/>
        </p:nvCxnSpPr>
        <p:spPr>
          <a:xfrm>
            <a:off x="4181765" y="1442192"/>
            <a:ext cx="0" cy="4320000"/>
          </a:xfrm>
          <a:prstGeom prst="line">
            <a:avLst/>
          </a:prstGeom>
          <a:noFill/>
          <a:ln w="50800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11" name="Conector recto de flecha 10"/>
          <p:cNvCxnSpPr>
            <a:cxnSpLocks/>
          </p:cNvCxnSpPr>
          <p:nvPr/>
        </p:nvCxnSpPr>
        <p:spPr>
          <a:xfrm flipH="1">
            <a:off x="3789451" y="3466269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12" name="Conector recto de flecha 11"/>
          <p:cNvCxnSpPr>
            <a:cxnSpLocks/>
          </p:cNvCxnSpPr>
          <p:nvPr/>
        </p:nvCxnSpPr>
        <p:spPr>
          <a:xfrm flipH="1">
            <a:off x="3821765" y="576219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13" name="Conector recto de flecha 12"/>
          <p:cNvCxnSpPr>
            <a:cxnSpLocks/>
          </p:cNvCxnSpPr>
          <p:nvPr/>
        </p:nvCxnSpPr>
        <p:spPr>
          <a:xfrm flipH="1" flipV="1">
            <a:off x="3804693" y="1442192"/>
            <a:ext cx="360000" cy="1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20" name="Rectángulo 19"/>
          <p:cNvSpPr>
            <a:spLocks noChangeArrowheads="1"/>
          </p:cNvSpPr>
          <p:nvPr/>
        </p:nvSpPr>
        <p:spPr bwMode="auto">
          <a:xfrm>
            <a:off x="1524000" y="2961071"/>
            <a:ext cx="2300293" cy="1008883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 y control manual</a:t>
            </a:r>
            <a:endParaRPr lang="es-VE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ángulo 20"/>
          <p:cNvSpPr>
            <a:spLocks noChangeArrowheads="1"/>
          </p:cNvSpPr>
          <p:nvPr/>
        </p:nvSpPr>
        <p:spPr bwMode="auto">
          <a:xfrm>
            <a:off x="1524000" y="1032616"/>
            <a:ext cx="2266013" cy="923211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 para registro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0024601" y="2196839"/>
            <a:ext cx="19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EFECTOS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42077" y="2196839"/>
            <a:ext cx="19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4557923" y="4597417"/>
            <a:ext cx="3146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Problema Central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/>
          <p:cNvCxnSpPr>
            <a:cxnSpLocks/>
            <a:endCxn id="8" idx="6"/>
          </p:cNvCxnSpPr>
          <p:nvPr/>
        </p:nvCxnSpPr>
        <p:spPr>
          <a:xfrm flipH="1">
            <a:off x="7771872" y="3446878"/>
            <a:ext cx="357474" cy="21698"/>
          </a:xfrm>
          <a:prstGeom prst="line">
            <a:avLst/>
          </a:prstGeom>
          <a:noFill/>
          <a:ln w="50800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56" name="Conector recto 55"/>
          <p:cNvCxnSpPr>
            <a:cxnSpLocks/>
          </p:cNvCxnSpPr>
          <p:nvPr/>
        </p:nvCxnSpPr>
        <p:spPr>
          <a:xfrm flipV="1">
            <a:off x="8129345" y="1442192"/>
            <a:ext cx="0" cy="4320000"/>
          </a:xfrm>
          <a:prstGeom prst="line">
            <a:avLst/>
          </a:prstGeom>
          <a:noFill/>
          <a:ln w="50800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57" name="Conector recto de flecha 56"/>
          <p:cNvCxnSpPr>
            <a:cxnSpLocks/>
          </p:cNvCxnSpPr>
          <p:nvPr/>
        </p:nvCxnSpPr>
        <p:spPr>
          <a:xfrm>
            <a:off x="8139335" y="146992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60" name="Rectángulo 59"/>
          <p:cNvSpPr>
            <a:spLocks noChangeArrowheads="1"/>
          </p:cNvSpPr>
          <p:nvPr/>
        </p:nvSpPr>
        <p:spPr bwMode="auto">
          <a:xfrm>
            <a:off x="8499334" y="5310552"/>
            <a:ext cx="2359619" cy="923211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Bajo rendimiento de las ventas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Rectángulo 60"/>
          <p:cNvSpPr>
            <a:spLocks noChangeArrowheads="1"/>
          </p:cNvSpPr>
          <p:nvPr/>
        </p:nvSpPr>
        <p:spPr bwMode="auto">
          <a:xfrm>
            <a:off x="8509324" y="3082162"/>
            <a:ext cx="2320027" cy="766702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Pérdida de información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Rectángulo 61"/>
          <p:cNvSpPr>
            <a:spLocks noChangeArrowheads="1"/>
          </p:cNvSpPr>
          <p:nvPr/>
        </p:nvSpPr>
        <p:spPr bwMode="auto">
          <a:xfrm>
            <a:off x="8531131" y="1150972"/>
            <a:ext cx="2327823" cy="686497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Gastos innecesarios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1" name="Conector recto de flecha 70"/>
          <p:cNvCxnSpPr>
            <a:cxnSpLocks/>
          </p:cNvCxnSpPr>
          <p:nvPr/>
        </p:nvCxnSpPr>
        <p:spPr>
          <a:xfrm>
            <a:off x="8139335" y="3430181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72" name="Conector recto de flecha 71"/>
          <p:cNvCxnSpPr>
            <a:cxnSpLocks/>
          </p:cNvCxnSpPr>
          <p:nvPr/>
        </p:nvCxnSpPr>
        <p:spPr>
          <a:xfrm>
            <a:off x="8121454" y="576219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29" name="Rectángulo 28"/>
          <p:cNvSpPr>
            <a:spLocks noChangeArrowheads="1"/>
          </p:cNvSpPr>
          <p:nvPr/>
        </p:nvSpPr>
        <p:spPr bwMode="auto">
          <a:xfrm>
            <a:off x="1524000" y="5224880"/>
            <a:ext cx="2281608" cy="1008883"/>
          </a:xfrm>
          <a:prstGeom prst="rect">
            <a:avLst/>
          </a:prstGeom>
          <a:gradFill rotWithShape="1">
            <a:gsLst>
              <a:gs pos="0">
                <a:srgbClr val="2A4B86"/>
              </a:gs>
              <a:gs pos="48000">
                <a:srgbClr val="4A76C6"/>
              </a:gs>
              <a:gs pos="100000">
                <a:srgbClr val="8FAADC"/>
              </a:gs>
            </a:gsLst>
            <a:lin ang="162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VE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Lento proceso de atención al cliente</a:t>
            </a:r>
            <a:endParaRPr lang="es-VE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3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1891231" y="2303936"/>
            <a:ext cx="19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7976088" y="2303936"/>
            <a:ext cx="2698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ESPECÍFICOS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>
            <a:off x="6079958" y="2303936"/>
            <a:ext cx="16042" cy="4286645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H="1" flipV="1">
            <a:off x="669984" y="2950234"/>
            <a:ext cx="10852030" cy="0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>
          <a:xfrm>
            <a:off x="1195898" y="3500438"/>
            <a:ext cx="338443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</a:t>
            </a: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Sistema Automatizado de Registro y Control de Compra y Venta en Taberna los 7 Hermanos</a:t>
            </a:r>
            <a:endParaRPr lang="es-VE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6277565" y="2970163"/>
            <a:ext cx="536809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Mejorar el rendimiento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de ventas.</a:t>
            </a:r>
            <a:endParaRPr lang="es-VE" sz="2000" b="1" dirty="0"/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Aumentar la seguridad del control de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ventas.</a:t>
            </a:r>
            <a:endParaRPr lang="es-VE" sz="2000" b="1" dirty="0"/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Preparar </a:t>
            </a: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los equipos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necesarios.</a:t>
            </a:r>
            <a:endParaRPr lang="es-VE" sz="2000" b="1" dirty="0"/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Dar orientación sobre el uso del sistema de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compra y venta.</a:t>
            </a:r>
            <a:endParaRPr lang="es-VE" sz="2000" b="1" dirty="0"/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Dar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mantenimiento </a:t>
            </a: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al sistema </a:t>
            </a:r>
            <a:r>
              <a:rPr lang="es-VE" sz="20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de </a:t>
            </a:r>
            <a:r>
              <a:rPr lang="es-VE" sz="2000" b="1" dirty="0">
                <a:latin typeface="Arial" panose="020B0604020202020204" pitchFamily="34" charset="0"/>
                <a:ea typeface="Calibri" panose="020F0502020204030204" pitchFamily="34" charset="0"/>
              </a:rPr>
              <a:t>ser necesario.</a:t>
            </a:r>
            <a:endParaRPr lang="es-VE" sz="2000" b="1" dirty="0">
              <a:effectLst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1660579" y="1460586"/>
            <a:ext cx="8870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Objetivos del Proyecto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73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/>
          <p:cNvSpPr>
            <a:spLocks/>
          </p:cNvSpPr>
          <p:nvPr/>
        </p:nvSpPr>
        <p:spPr>
          <a:xfrm>
            <a:off x="4495800" y="2513854"/>
            <a:ext cx="3273545" cy="1909443"/>
          </a:xfrm>
          <a:prstGeom prst="ellipse">
            <a:avLst/>
          </a:prstGeom>
          <a:solidFill>
            <a:srgbClr val="004800"/>
          </a:solidFill>
          <a:ln>
            <a:solidFill>
              <a:srgbClr val="008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 un Sistema Automatizado de Registro y Control de Compras y Ventas</a:t>
            </a:r>
            <a:endParaRPr lang="es-VE" sz="1600" b="1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8"/>
          <p:cNvCxnSpPr>
            <a:cxnSpLocks/>
            <a:stCxn id="8" idx="2"/>
          </p:cNvCxnSpPr>
          <p:nvPr/>
        </p:nvCxnSpPr>
        <p:spPr>
          <a:xfrm flipH="1" flipV="1">
            <a:off x="4215911" y="3468575"/>
            <a:ext cx="279889" cy="1"/>
          </a:xfrm>
          <a:prstGeom prst="line">
            <a:avLst/>
          </a:prstGeom>
          <a:noFill/>
          <a:ln w="50800" cap="flat" cmpd="sng" algn="ctr">
            <a:solidFill>
              <a:srgbClr val="004800"/>
            </a:solidFill>
            <a:prstDash val="solid"/>
          </a:ln>
          <a:effectLst/>
        </p:spPr>
      </p:cxnSp>
      <p:cxnSp>
        <p:nvCxnSpPr>
          <p:cNvPr id="10" name="Conector recto 9"/>
          <p:cNvCxnSpPr>
            <a:cxnSpLocks/>
          </p:cNvCxnSpPr>
          <p:nvPr/>
        </p:nvCxnSpPr>
        <p:spPr>
          <a:xfrm>
            <a:off x="4181765" y="1442192"/>
            <a:ext cx="0" cy="4320000"/>
          </a:xfrm>
          <a:prstGeom prst="line">
            <a:avLst/>
          </a:prstGeom>
          <a:noFill/>
          <a:ln w="50800" cap="flat" cmpd="sng" algn="ctr">
            <a:solidFill>
              <a:srgbClr val="004800"/>
            </a:solidFill>
            <a:prstDash val="solid"/>
          </a:ln>
          <a:effectLst/>
        </p:spPr>
      </p:cxnSp>
      <p:cxnSp>
        <p:nvCxnSpPr>
          <p:cNvPr id="11" name="Conector recto de flecha 10"/>
          <p:cNvCxnSpPr>
            <a:cxnSpLocks/>
          </p:cNvCxnSpPr>
          <p:nvPr/>
        </p:nvCxnSpPr>
        <p:spPr>
          <a:xfrm flipH="1">
            <a:off x="3789451" y="3466269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cxnSp>
        <p:nvCxnSpPr>
          <p:cNvPr id="12" name="Conector recto de flecha 11"/>
          <p:cNvCxnSpPr>
            <a:cxnSpLocks/>
          </p:cNvCxnSpPr>
          <p:nvPr/>
        </p:nvCxnSpPr>
        <p:spPr>
          <a:xfrm flipH="1">
            <a:off x="3821765" y="576219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cxnSp>
        <p:nvCxnSpPr>
          <p:cNvPr id="13" name="Conector recto de flecha 12"/>
          <p:cNvCxnSpPr>
            <a:cxnSpLocks/>
          </p:cNvCxnSpPr>
          <p:nvPr/>
        </p:nvCxnSpPr>
        <p:spPr>
          <a:xfrm flipH="1" flipV="1">
            <a:off x="3804693" y="1442192"/>
            <a:ext cx="360000" cy="1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sp>
        <p:nvSpPr>
          <p:cNvPr id="19" name="Rectángulo 18"/>
          <p:cNvSpPr>
            <a:spLocks noChangeArrowheads="1"/>
          </p:cNvSpPr>
          <p:nvPr/>
        </p:nvSpPr>
        <p:spPr bwMode="auto">
          <a:xfrm>
            <a:off x="1170808" y="5149943"/>
            <a:ext cx="2619205" cy="1116635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Consultas optimizadas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/>
          <p:cNvSpPr>
            <a:spLocks noChangeArrowheads="1"/>
          </p:cNvSpPr>
          <p:nvPr/>
        </p:nvSpPr>
        <p:spPr bwMode="auto">
          <a:xfrm>
            <a:off x="1170808" y="2961071"/>
            <a:ext cx="2653485" cy="1008883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 y control digital</a:t>
            </a:r>
            <a:endParaRPr lang="es-VE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ángulo 20"/>
          <p:cNvSpPr>
            <a:spLocks noChangeArrowheads="1"/>
          </p:cNvSpPr>
          <p:nvPr/>
        </p:nvSpPr>
        <p:spPr bwMode="auto">
          <a:xfrm>
            <a:off x="1170808" y="1032617"/>
            <a:ext cx="2619206" cy="923210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Almacenamiento digital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455274" y="2435410"/>
            <a:ext cx="19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MEDIDAS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9862071" y="2435410"/>
            <a:ext cx="19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FINES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4572740" y="4626723"/>
            <a:ext cx="3231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/>
          <p:cNvCxnSpPr>
            <a:cxnSpLocks/>
            <a:endCxn id="8" idx="6"/>
          </p:cNvCxnSpPr>
          <p:nvPr/>
        </p:nvCxnSpPr>
        <p:spPr>
          <a:xfrm flipH="1">
            <a:off x="7769345" y="3446878"/>
            <a:ext cx="360000" cy="0"/>
          </a:xfrm>
          <a:prstGeom prst="line">
            <a:avLst/>
          </a:prstGeom>
          <a:noFill/>
          <a:ln w="50800" cap="flat" cmpd="sng" algn="ctr">
            <a:solidFill>
              <a:srgbClr val="004800"/>
            </a:solidFill>
            <a:prstDash val="solid"/>
          </a:ln>
          <a:effectLst/>
        </p:spPr>
      </p:cxnSp>
      <p:cxnSp>
        <p:nvCxnSpPr>
          <p:cNvPr id="56" name="Conector recto 55"/>
          <p:cNvCxnSpPr>
            <a:cxnSpLocks/>
          </p:cNvCxnSpPr>
          <p:nvPr/>
        </p:nvCxnSpPr>
        <p:spPr>
          <a:xfrm flipV="1">
            <a:off x="8129345" y="1442192"/>
            <a:ext cx="0" cy="4320000"/>
          </a:xfrm>
          <a:prstGeom prst="line">
            <a:avLst/>
          </a:prstGeom>
          <a:noFill/>
          <a:ln w="50800" cap="flat" cmpd="sng" algn="ctr">
            <a:solidFill>
              <a:srgbClr val="004800"/>
            </a:solidFill>
            <a:prstDash val="solid"/>
          </a:ln>
          <a:effectLst/>
        </p:spPr>
      </p:cxnSp>
      <p:cxnSp>
        <p:nvCxnSpPr>
          <p:cNvPr id="57" name="Conector recto de flecha 56"/>
          <p:cNvCxnSpPr>
            <a:cxnSpLocks/>
          </p:cNvCxnSpPr>
          <p:nvPr/>
        </p:nvCxnSpPr>
        <p:spPr>
          <a:xfrm>
            <a:off x="8139335" y="146992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sp>
        <p:nvSpPr>
          <p:cNvPr id="60" name="Rectángulo 59"/>
          <p:cNvSpPr>
            <a:spLocks noChangeArrowheads="1"/>
          </p:cNvSpPr>
          <p:nvPr/>
        </p:nvSpPr>
        <p:spPr bwMode="auto">
          <a:xfrm>
            <a:off x="8499335" y="5310552"/>
            <a:ext cx="2633886" cy="923211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 rendimiento en ventas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Rectángulo 60"/>
          <p:cNvSpPr>
            <a:spLocks noChangeArrowheads="1"/>
          </p:cNvSpPr>
          <p:nvPr/>
        </p:nvSpPr>
        <p:spPr bwMode="auto">
          <a:xfrm>
            <a:off x="8509324" y="3082162"/>
            <a:ext cx="2623897" cy="766702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Seguridad en la información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Rectángulo 61"/>
          <p:cNvSpPr>
            <a:spLocks noChangeArrowheads="1"/>
          </p:cNvSpPr>
          <p:nvPr/>
        </p:nvSpPr>
        <p:spPr bwMode="auto">
          <a:xfrm>
            <a:off x="8454017" y="830290"/>
            <a:ext cx="2679204" cy="1279263"/>
          </a:xfrm>
          <a:prstGeom prst="rect">
            <a:avLst/>
          </a:prstGeom>
          <a:solidFill>
            <a:srgbClr val="008000"/>
          </a:solidFill>
          <a:ln>
            <a:solidFill>
              <a:srgbClr val="004800"/>
            </a:solidFill>
          </a:ln>
          <a:extLst/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Ahorro de espacio y de presupuesto</a:t>
            </a:r>
            <a:endParaRPr lang="es-VE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1" name="Conector recto de flecha 70"/>
          <p:cNvCxnSpPr>
            <a:cxnSpLocks/>
          </p:cNvCxnSpPr>
          <p:nvPr/>
        </p:nvCxnSpPr>
        <p:spPr>
          <a:xfrm>
            <a:off x="8139335" y="3430181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cxnSp>
        <p:nvCxnSpPr>
          <p:cNvPr id="72" name="Conector recto de flecha 71"/>
          <p:cNvCxnSpPr>
            <a:cxnSpLocks/>
          </p:cNvCxnSpPr>
          <p:nvPr/>
        </p:nvCxnSpPr>
        <p:spPr>
          <a:xfrm>
            <a:off x="8121454" y="5762192"/>
            <a:ext cx="360000" cy="0"/>
          </a:xfrm>
          <a:prstGeom prst="straightConnector1">
            <a:avLst/>
          </a:prstGeom>
          <a:noFill/>
          <a:ln w="50800" cap="flat" cmpd="sng" algn="ctr">
            <a:solidFill>
              <a:srgbClr val="004800"/>
            </a:solidFill>
            <a:prstDash val="solid"/>
            <a:tailEnd type="arrow"/>
          </a:ln>
          <a:effectLst/>
        </p:spPr>
      </p:cxnSp>
      <p:sp>
        <p:nvSpPr>
          <p:cNvPr id="23" name="Rectángulo 22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2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/>
          <p:cNvSpPr txBox="1"/>
          <p:nvPr/>
        </p:nvSpPr>
        <p:spPr>
          <a:xfrm>
            <a:off x="606730" y="3174648"/>
            <a:ext cx="2999112" cy="1384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Tener una buena gestión y administración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4713036" y="3174649"/>
            <a:ext cx="2765926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Registros manuales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9279605" y="3174649"/>
            <a:ext cx="2469161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 de información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brir llave 25"/>
          <p:cNvSpPr/>
          <p:nvPr/>
        </p:nvSpPr>
        <p:spPr>
          <a:xfrm rot="5400000">
            <a:off x="5830460" y="-1669368"/>
            <a:ext cx="458055" cy="8909394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8" name="CuadroTexto 27"/>
          <p:cNvSpPr txBox="1"/>
          <p:nvPr/>
        </p:nvSpPr>
        <p:spPr>
          <a:xfrm>
            <a:off x="606730" y="5224859"/>
            <a:ext cx="2999112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de ingresos y gastos</a:t>
            </a:r>
            <a:endParaRPr lang="es-V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4596443" y="5239361"/>
            <a:ext cx="2999112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Gastos en material de registro</a:t>
            </a:r>
            <a:endParaRPr lang="es-V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9536477" y="5224858"/>
            <a:ext cx="1955415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 monetaria</a:t>
            </a:r>
            <a:endParaRPr lang="es-V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ector recto de flecha 30"/>
          <p:cNvCxnSpPr>
            <a:stCxn id="18" idx="2"/>
            <a:endCxn id="28" idx="0"/>
          </p:cNvCxnSpPr>
          <p:nvPr/>
        </p:nvCxnSpPr>
        <p:spPr>
          <a:xfrm>
            <a:off x="2106286" y="4559643"/>
            <a:ext cx="0" cy="665216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24" idx="2"/>
            <a:endCxn id="29" idx="0"/>
          </p:cNvCxnSpPr>
          <p:nvPr/>
        </p:nvCxnSpPr>
        <p:spPr>
          <a:xfrm>
            <a:off x="6095999" y="4128756"/>
            <a:ext cx="0" cy="1110605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25" idx="2"/>
            <a:endCxn id="30" idx="0"/>
          </p:cNvCxnSpPr>
          <p:nvPr/>
        </p:nvCxnSpPr>
        <p:spPr>
          <a:xfrm flipH="1">
            <a:off x="10514185" y="4128756"/>
            <a:ext cx="1" cy="1096102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1660579" y="1460586"/>
            <a:ext cx="8870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Justificación de la Investigación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75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1891231" y="2304836"/>
            <a:ext cx="2324680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ALCANCES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7976088" y="2303936"/>
            <a:ext cx="1893351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ector recto 17"/>
          <p:cNvCxnSpPr/>
          <p:nvPr/>
        </p:nvCxnSpPr>
        <p:spPr>
          <a:xfrm flipH="1">
            <a:off x="6097738" y="2206956"/>
            <a:ext cx="1" cy="453600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/>
          <p:cNvCxnSpPr/>
          <p:nvPr/>
        </p:nvCxnSpPr>
        <p:spPr>
          <a:xfrm flipH="1" flipV="1">
            <a:off x="669984" y="3019246"/>
            <a:ext cx="10852030" cy="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59379"/>
              </p:ext>
            </p:extLst>
          </p:nvPr>
        </p:nvGraphicFramePr>
        <p:xfrm>
          <a:off x="669984" y="3243531"/>
          <a:ext cx="10852030" cy="3333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4220">
                  <a:extLst>
                    <a:ext uri="{9D8B030D-6E8A-4147-A177-3AD203B41FA5}">
                      <a16:colId xmlns:a16="http://schemas.microsoft.com/office/drawing/2014/main" val="1653755987"/>
                    </a:ext>
                  </a:extLst>
                </a:gridCol>
                <a:gridCol w="569343">
                  <a:extLst>
                    <a:ext uri="{9D8B030D-6E8A-4147-A177-3AD203B41FA5}">
                      <a16:colId xmlns:a16="http://schemas.microsoft.com/office/drawing/2014/main" val="187759380"/>
                    </a:ext>
                  </a:extLst>
                </a:gridCol>
                <a:gridCol w="5138467">
                  <a:extLst>
                    <a:ext uri="{9D8B030D-6E8A-4147-A177-3AD203B41FA5}">
                      <a16:colId xmlns:a16="http://schemas.microsoft.com/office/drawing/2014/main" val="823517638"/>
                    </a:ext>
                  </a:extLst>
                </a:gridCol>
              </a:tblGrid>
              <a:tr h="1062173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00000"/>
                        </a:lnSpc>
                        <a:spcAft>
                          <a:spcPts val="67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VE" sz="2000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Desarrollar </a:t>
                      </a:r>
                      <a:r>
                        <a:rPr lang="es-VE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un sistema automatizado para el registro y control de </a:t>
                      </a:r>
                      <a:r>
                        <a:rPr lang="es-VE" sz="2000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compras</a:t>
                      </a:r>
                      <a:r>
                        <a:rPr lang="es-VE" sz="2000" b="1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s-VE" sz="2000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ventas.</a:t>
                      </a:r>
                      <a:endParaRPr lang="es-VE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s-VE" b="1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67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Facilitar el control de ventas.</a:t>
                      </a:r>
                      <a:endParaRPr lang="es-VE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58998"/>
                  </a:ext>
                </a:extLst>
              </a:tr>
              <a:tr h="1283924">
                <a:tc>
                  <a:txBody>
                    <a:bodyPr/>
                    <a:lstStyle/>
                    <a:p>
                      <a:pPr marL="342900" marR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7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2000" b="1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Instalación de un sistema automatizado a la licorería “Taberna los 7 hermanos”. </a:t>
                      </a:r>
                      <a:endParaRPr lang="es-VE" sz="2000" b="1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s-VE" b="1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67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Adaptar el sistema de acuerdo a las necesidades que se presentan en la comunidad.</a:t>
                      </a:r>
                      <a:endParaRPr lang="es-VE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09852"/>
                  </a:ext>
                </a:extLst>
              </a:tr>
              <a:tr h="987634">
                <a:tc>
                  <a:txBody>
                    <a:bodyPr/>
                    <a:lstStyle/>
                    <a:p>
                      <a:pPr marL="342900" marR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7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2000" b="1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Dar orientación al personal para la utilización correcta del sistema.</a:t>
                      </a:r>
                      <a:endParaRPr lang="es-VE" sz="2000" b="1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s-VE" b="1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67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VE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Dar charlas constructivas sobre la utilización del sistema automatizado al administrador y usuarios.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359079"/>
                  </a:ext>
                </a:extLst>
              </a:tr>
            </a:tbl>
          </a:graphicData>
        </a:graphic>
      </p:graphicFrame>
      <p:sp>
        <p:nvSpPr>
          <p:cNvPr id="10" name="Rectángulo 9"/>
          <p:cNvSpPr/>
          <p:nvPr/>
        </p:nvSpPr>
        <p:spPr>
          <a:xfrm>
            <a:off x="3403928" y="378260"/>
            <a:ext cx="5311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4800" b="1" dirty="0" smtClean="0">
                <a:latin typeface="Agency FB" panose="020B0503020202020204" pitchFamily="34" charset="0"/>
              </a:rPr>
              <a:t>PARTE </a:t>
            </a:r>
            <a:r>
              <a:rPr lang="es-VE" sz="4800" b="1" dirty="0">
                <a:latin typeface="Agency FB" panose="020B0503020202020204" pitchFamily="34" charset="0"/>
              </a:rPr>
              <a:t>B</a:t>
            </a:r>
            <a:r>
              <a:rPr lang="es-VE" sz="4800" b="1" dirty="0" smtClean="0">
                <a:latin typeface="Agency FB" panose="020B0503020202020204" pitchFamily="34" charset="0"/>
              </a:rPr>
              <a:t>: DIANÓSTICO</a:t>
            </a:r>
            <a:endParaRPr lang="es-VE" sz="4800" b="1" dirty="0">
              <a:latin typeface="Agency FB" panose="020B0503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660579" y="1460586"/>
            <a:ext cx="8870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Alcances y Metas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316503" y="1761500"/>
            <a:ext cx="755899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8800" b="1" u="sng" dirty="0">
                <a:latin typeface="Agency FB" panose="020B0503020202020204" pitchFamily="34" charset="0"/>
              </a:rPr>
              <a:t>CAPÍTULO </a:t>
            </a:r>
            <a:r>
              <a:rPr lang="es-VE" sz="8800" b="1" u="sng" dirty="0" smtClean="0">
                <a:latin typeface="Agency FB" panose="020B0503020202020204" pitchFamily="34" charset="0"/>
              </a:rPr>
              <a:t>2</a:t>
            </a:r>
            <a:r>
              <a:rPr lang="es-VE" sz="8800" b="1" u="sng" dirty="0">
                <a:latin typeface="Agency FB" panose="020B0503020202020204" pitchFamily="34" charset="0"/>
              </a:rPr>
              <a:t/>
            </a:r>
            <a:br>
              <a:rPr lang="es-VE" sz="8800" b="1" u="sng" dirty="0">
                <a:latin typeface="Agency FB" panose="020B0503020202020204" pitchFamily="34" charset="0"/>
              </a:rPr>
            </a:br>
            <a:r>
              <a:rPr lang="es-VE" sz="6600" b="1" u="sng" dirty="0" smtClean="0">
                <a:latin typeface="Agency FB" panose="020B0503020202020204" pitchFamily="34" charset="0"/>
              </a:rPr>
              <a:t>MARCO TEÓRICO Y TECNOLÓGICO</a:t>
            </a:r>
            <a:endParaRPr lang="es-VE" sz="6600" b="1" u="sng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brir llave 12"/>
          <p:cNvSpPr/>
          <p:nvPr/>
        </p:nvSpPr>
        <p:spPr>
          <a:xfrm rot="5400000">
            <a:off x="5830460" y="-2202728"/>
            <a:ext cx="458055" cy="8909394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4" name="CuadroTexto 13"/>
          <p:cNvSpPr txBox="1"/>
          <p:nvPr/>
        </p:nvSpPr>
        <p:spPr>
          <a:xfrm>
            <a:off x="626870" y="2852211"/>
            <a:ext cx="299911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Rincón L. (2014)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8734072" y="2852211"/>
            <a:ext cx="299338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Suárez M. (2015)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4533085" y="2852211"/>
            <a:ext cx="317333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Suárez M. (2012)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626870" y="4269865"/>
            <a:ext cx="2999112" cy="19389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un sistema automatizado para el control del proceso de facturación de la empresa Ferre-Impercon C.A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8728346" y="4269865"/>
            <a:ext cx="2999112" cy="22467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Automatizado para el Registro y control de los procesos Administrativos de la coordinación de servicios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4520515" y="4269865"/>
            <a:ext cx="3198476" cy="19389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un sistema de información automatizado para el control de facturación e inventario de Óptica </a:t>
            </a:r>
            <a:r>
              <a:rPr lang="es-V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Pelayo </a:t>
            </a:r>
            <a:endParaRPr lang="es-V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Conector recto de flecha 19"/>
          <p:cNvCxnSpPr>
            <a:stCxn id="14" idx="2"/>
            <a:endCxn id="17" idx="0"/>
          </p:cNvCxnSpPr>
          <p:nvPr/>
        </p:nvCxnSpPr>
        <p:spPr>
          <a:xfrm>
            <a:off x="2126426" y="3375431"/>
            <a:ext cx="0" cy="894434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15" idx="2"/>
            <a:endCxn id="18" idx="0"/>
          </p:cNvCxnSpPr>
          <p:nvPr/>
        </p:nvCxnSpPr>
        <p:spPr>
          <a:xfrm flipH="1">
            <a:off x="10227902" y="3375431"/>
            <a:ext cx="2863" cy="894434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16" idx="2"/>
            <a:endCxn id="19" idx="0"/>
          </p:cNvCxnSpPr>
          <p:nvPr/>
        </p:nvCxnSpPr>
        <p:spPr>
          <a:xfrm>
            <a:off x="6119753" y="3375431"/>
            <a:ext cx="0" cy="894434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1447338" y="705392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Antecedentes de la Investigación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9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brir llave 17"/>
          <p:cNvSpPr/>
          <p:nvPr/>
        </p:nvSpPr>
        <p:spPr>
          <a:xfrm rot="5400000">
            <a:off x="5942218" y="-2300184"/>
            <a:ext cx="234539" cy="8909394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1094434" y="2610778"/>
            <a:ext cx="1825919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8805220" y="2610778"/>
            <a:ext cx="299338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Datos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690605" y="2395334"/>
            <a:ext cx="2810786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Administrativo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rquitectura cliente-servidor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72" y="3395608"/>
            <a:ext cx="3507445" cy="31777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028" name="Picture 4" descr="https://www.becomsys.com.mx/wp-content/uploads/2021/05/softwar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216" y="3349441"/>
            <a:ext cx="3985564" cy="322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www.researchgate.net/profile/Marco-Aurelio-Nuno-Maganda/publication/342425464/figure/fig5/AS:906059011067905@1593032710324/Diseno-de-la-base-de-datos.pp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334" y="3349440"/>
            <a:ext cx="3699866" cy="322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1447338" y="705392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Bases Teóricas y Tecnológicas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7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rir llave 7"/>
          <p:cNvSpPr/>
          <p:nvPr/>
        </p:nvSpPr>
        <p:spPr>
          <a:xfrm rot="5400000">
            <a:off x="5942218" y="-2259651"/>
            <a:ext cx="234539" cy="8909394"/>
          </a:xfrm>
          <a:prstGeom prst="leftBrace">
            <a:avLst>
              <a:gd name="adj1" fmla="val 260418"/>
              <a:gd name="adj2" fmla="val 49815"/>
            </a:avLst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bg1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51675" y="2616379"/>
            <a:ext cx="4333901" cy="1384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Constitución de la República Bolivariana de Venezuela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706421" y="2616378"/>
            <a:ext cx="4092185" cy="1384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Orgánica de Ciencia, Tecnología e Innovación</a:t>
            </a:r>
            <a:endParaRPr lang="es-V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16651" y="5023410"/>
            <a:ext cx="2999112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Enmienda N.1</a:t>
            </a:r>
          </a:p>
          <a:p>
            <a:pPr algn="just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Artículo 110</a:t>
            </a:r>
            <a:endParaRPr lang="es-V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ector recto de flecha 11"/>
          <p:cNvCxnSpPr>
            <a:stCxn id="9" idx="2"/>
            <a:endCxn id="11" idx="0"/>
          </p:cNvCxnSpPr>
          <p:nvPr/>
        </p:nvCxnSpPr>
        <p:spPr>
          <a:xfrm flipH="1">
            <a:off x="2316207" y="4001374"/>
            <a:ext cx="2419" cy="1022036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8796177" y="5023410"/>
            <a:ext cx="1912672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 5</a:t>
            </a:r>
          </a:p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 1</a:t>
            </a:r>
          </a:p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 6</a:t>
            </a:r>
          </a:p>
          <a:p>
            <a:pPr algn="ctr"/>
            <a:r>
              <a:rPr lang="es-V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 7</a:t>
            </a:r>
            <a:endParaRPr lang="es-V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de flecha 15"/>
          <p:cNvCxnSpPr>
            <a:stCxn id="10" idx="2"/>
            <a:endCxn id="15" idx="0"/>
          </p:cNvCxnSpPr>
          <p:nvPr/>
        </p:nvCxnSpPr>
        <p:spPr>
          <a:xfrm flipH="1">
            <a:off x="9752513" y="4001373"/>
            <a:ext cx="1" cy="1022037"/>
          </a:xfrm>
          <a:prstGeom prst="straightConnector1">
            <a:avLst/>
          </a:prstGeom>
          <a:ln w="76200" cap="flat" cmpd="sng" algn="ctr">
            <a:solidFill>
              <a:srgbClr val="2980B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85B3BBFE-756E-5463-6960-9FF2263F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188" y="3122083"/>
            <a:ext cx="4185331" cy="31389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CuadroTexto 13"/>
          <p:cNvSpPr txBox="1"/>
          <p:nvPr/>
        </p:nvSpPr>
        <p:spPr>
          <a:xfrm>
            <a:off x="1447338" y="705392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Bases Legales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6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316503" y="1761500"/>
            <a:ext cx="755899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VE" sz="8800" b="1" u="sng" dirty="0">
                <a:latin typeface="Agency FB" panose="020B0503020202020204" pitchFamily="34" charset="0"/>
              </a:rPr>
              <a:t>CAPÍTULO 3</a:t>
            </a:r>
            <a:br>
              <a:rPr lang="es-VE" sz="8800" b="1" u="sng" dirty="0">
                <a:latin typeface="Agency FB" panose="020B0503020202020204" pitchFamily="34" charset="0"/>
              </a:rPr>
            </a:br>
            <a:r>
              <a:rPr lang="es-VE" sz="6600" b="1" u="sng" dirty="0" smtClean="0">
                <a:latin typeface="Agency FB" panose="020B0503020202020204" pitchFamily="34" charset="0"/>
              </a:rPr>
              <a:t>MARCO METODOLÓGICO</a:t>
            </a:r>
            <a:endParaRPr lang="es-VE" sz="6600" b="1" u="sng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22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F75E00-E289-5BF5-52AE-8E906C020925}"/>
              </a:ext>
            </a:extLst>
          </p:cNvPr>
          <p:cNvCxnSpPr/>
          <p:nvPr/>
        </p:nvCxnSpPr>
        <p:spPr>
          <a:xfrm>
            <a:off x="6059487" y="1588168"/>
            <a:ext cx="3562" cy="642162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D54EAD7-4059-2E61-7DFC-01F643C8B244}"/>
              </a:ext>
            </a:extLst>
          </p:cNvPr>
          <p:cNvCxnSpPr>
            <a:cxnSpLocks/>
          </p:cNvCxnSpPr>
          <p:nvPr/>
        </p:nvCxnSpPr>
        <p:spPr>
          <a:xfrm flipH="1">
            <a:off x="1721708" y="2230330"/>
            <a:ext cx="8748584" cy="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4FF5D93-62EB-B811-57DF-D73793A25FAD}"/>
              </a:ext>
            </a:extLst>
          </p:cNvPr>
          <p:cNvCxnSpPr>
            <a:cxnSpLocks/>
          </p:cNvCxnSpPr>
          <p:nvPr/>
        </p:nvCxnSpPr>
        <p:spPr>
          <a:xfrm>
            <a:off x="1758994" y="2191244"/>
            <a:ext cx="0" cy="36000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7B6EF3-7668-79B9-6804-3AF5FE9957F1}"/>
              </a:ext>
            </a:extLst>
          </p:cNvPr>
          <p:cNvCxnSpPr>
            <a:cxnSpLocks/>
          </p:cNvCxnSpPr>
          <p:nvPr/>
        </p:nvCxnSpPr>
        <p:spPr>
          <a:xfrm>
            <a:off x="10470291" y="2188601"/>
            <a:ext cx="0" cy="36000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F9F84F7-C7D5-A48D-8A1C-C16D97446594}"/>
              </a:ext>
            </a:extLst>
          </p:cNvPr>
          <p:cNvSpPr txBox="1"/>
          <p:nvPr/>
        </p:nvSpPr>
        <p:spPr>
          <a:xfrm>
            <a:off x="309048" y="2595594"/>
            <a:ext cx="276892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Análisis de los Involucrados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13480F0-E17F-401F-BE06-FFA7BDF955A3}"/>
              </a:ext>
            </a:extLst>
          </p:cNvPr>
          <p:cNvCxnSpPr/>
          <p:nvPr/>
        </p:nvCxnSpPr>
        <p:spPr>
          <a:xfrm flipH="1">
            <a:off x="1693509" y="3690435"/>
            <a:ext cx="1" cy="254798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F1D6460-2A50-AC2C-0BEA-6469FA8C3110}"/>
              </a:ext>
            </a:extLst>
          </p:cNvPr>
          <p:cNvCxnSpPr>
            <a:cxnSpLocks/>
          </p:cNvCxnSpPr>
          <p:nvPr/>
        </p:nvCxnSpPr>
        <p:spPr>
          <a:xfrm flipH="1">
            <a:off x="696089" y="3994397"/>
            <a:ext cx="2001795" cy="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5F70D0C-74AD-9B29-E061-DE6FF76769D5}"/>
              </a:ext>
            </a:extLst>
          </p:cNvPr>
          <p:cNvCxnSpPr>
            <a:cxnSpLocks/>
          </p:cNvCxnSpPr>
          <p:nvPr/>
        </p:nvCxnSpPr>
        <p:spPr>
          <a:xfrm>
            <a:off x="696088" y="3994397"/>
            <a:ext cx="24722" cy="1010063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F1E4BA5-1613-8269-794C-7E2367959EC1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697884" y="3994397"/>
            <a:ext cx="1" cy="193346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71BFC8E-0398-A21A-AC87-3C58235D1143}"/>
              </a:ext>
            </a:extLst>
          </p:cNvPr>
          <p:cNvSpPr txBox="1"/>
          <p:nvPr/>
        </p:nvSpPr>
        <p:spPr>
          <a:xfrm>
            <a:off x="1696987" y="5927857"/>
            <a:ext cx="200179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Estudiantes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E6BA2D-D35C-7C42-EAFF-5B05FE70CFB6}"/>
              </a:ext>
            </a:extLst>
          </p:cNvPr>
          <p:cNvCxnSpPr>
            <a:cxnSpLocks/>
          </p:cNvCxnSpPr>
          <p:nvPr/>
        </p:nvCxnSpPr>
        <p:spPr>
          <a:xfrm>
            <a:off x="4963297" y="2216601"/>
            <a:ext cx="0" cy="359719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BCCFF4-F438-20B9-DE31-16EFD506ECE1}"/>
              </a:ext>
            </a:extLst>
          </p:cNvPr>
          <p:cNvSpPr txBox="1"/>
          <p:nvPr/>
        </p:nvSpPr>
        <p:spPr>
          <a:xfrm>
            <a:off x="3647002" y="2591927"/>
            <a:ext cx="251254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Análisis de problemas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686A025-93F4-F6DE-35E0-324DD2EDDE9E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889709" y="3400926"/>
            <a:ext cx="0" cy="1379802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4631603-87D1-546C-E759-4A1B941C7718}"/>
              </a:ext>
            </a:extLst>
          </p:cNvPr>
          <p:cNvSpPr txBox="1"/>
          <p:nvPr/>
        </p:nvSpPr>
        <p:spPr>
          <a:xfrm>
            <a:off x="3833193" y="4780728"/>
            <a:ext cx="211303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Árbol de los problemas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EA92C2E-06A1-5B15-C0FD-DD7E804C6BBA}"/>
              </a:ext>
            </a:extLst>
          </p:cNvPr>
          <p:cNvSpPr txBox="1"/>
          <p:nvPr/>
        </p:nvSpPr>
        <p:spPr>
          <a:xfrm>
            <a:off x="9608379" y="3675144"/>
            <a:ext cx="200611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Solvencia del problema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3949EA9-8751-416E-C978-71AC9C6BB9F5}"/>
              </a:ext>
            </a:extLst>
          </p:cNvPr>
          <p:cNvCxnSpPr>
            <a:cxnSpLocks/>
          </p:cNvCxnSpPr>
          <p:nvPr/>
        </p:nvCxnSpPr>
        <p:spPr>
          <a:xfrm>
            <a:off x="7545859" y="2216601"/>
            <a:ext cx="0" cy="359719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0D865FB-CF72-1EC2-3F5B-EB605B52E47C}"/>
              </a:ext>
            </a:extLst>
          </p:cNvPr>
          <p:cNvSpPr txBox="1"/>
          <p:nvPr/>
        </p:nvSpPr>
        <p:spPr>
          <a:xfrm>
            <a:off x="6539006" y="2591927"/>
            <a:ext cx="2380601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Análisis de los objetivos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DE07C89-A877-BA36-CC80-2275D362010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flipH="1">
            <a:off x="7719725" y="3546034"/>
            <a:ext cx="9582" cy="1362093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C150C7A-D4DC-9B22-B4E9-C8ED87C216F5}"/>
              </a:ext>
            </a:extLst>
          </p:cNvPr>
          <p:cNvSpPr txBox="1"/>
          <p:nvPr/>
        </p:nvSpPr>
        <p:spPr>
          <a:xfrm>
            <a:off x="6782904" y="4908127"/>
            <a:ext cx="187364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Árbol de los objetivos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E7343B-39E5-78F5-4EAF-A8D53E7FE810}"/>
              </a:ext>
            </a:extLst>
          </p:cNvPr>
          <p:cNvSpPr txBox="1"/>
          <p:nvPr/>
        </p:nvSpPr>
        <p:spPr>
          <a:xfrm>
            <a:off x="9508987" y="2573116"/>
            <a:ext cx="220489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Análisis de alternativas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2DE292E-3AD0-2424-C449-CF19C7BD06FB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10611435" y="3527223"/>
            <a:ext cx="1" cy="147921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824B0A3-1322-299B-F2F0-F2E9E94B2BB7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10611436" y="4506141"/>
            <a:ext cx="0" cy="267486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11BE241-ED19-A6E9-3559-294126F9BD4B}"/>
              </a:ext>
            </a:extLst>
          </p:cNvPr>
          <p:cNvSpPr txBox="1"/>
          <p:nvPr/>
        </p:nvSpPr>
        <p:spPr>
          <a:xfrm>
            <a:off x="9536242" y="4773627"/>
            <a:ext cx="215038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Metodologías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9E16319-5F77-3B85-654F-C6C24BCBF290}"/>
              </a:ext>
            </a:extLst>
          </p:cNvPr>
          <p:cNvCxnSpPr/>
          <p:nvPr/>
        </p:nvCxnSpPr>
        <p:spPr>
          <a:xfrm flipH="1">
            <a:off x="10492848" y="5324532"/>
            <a:ext cx="1" cy="254798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863BFB4-73D9-BA24-040E-14267A472F7A}"/>
              </a:ext>
            </a:extLst>
          </p:cNvPr>
          <p:cNvCxnSpPr>
            <a:cxnSpLocks/>
          </p:cNvCxnSpPr>
          <p:nvPr/>
        </p:nvCxnSpPr>
        <p:spPr>
          <a:xfrm flipH="1">
            <a:off x="9467233" y="5629882"/>
            <a:ext cx="2001795" cy="1510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CB6E2491-62E6-2A9D-6398-4430FB131CC0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9505867" y="5630205"/>
            <a:ext cx="0" cy="36000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5CD6F35-2DF2-253B-48F2-B1E7B064D482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1471189" y="5709691"/>
            <a:ext cx="0" cy="36000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5B41A17-8645-FB65-81AD-C4C773D671A6}"/>
              </a:ext>
            </a:extLst>
          </p:cNvPr>
          <p:cNvSpPr txBox="1"/>
          <p:nvPr/>
        </p:nvSpPr>
        <p:spPr>
          <a:xfrm>
            <a:off x="8947867" y="5927857"/>
            <a:ext cx="1116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Marco Lógico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CADDFC1-23D0-0534-E714-80B05ADD1EBB}"/>
              </a:ext>
            </a:extLst>
          </p:cNvPr>
          <p:cNvSpPr txBox="1"/>
          <p:nvPr/>
        </p:nvSpPr>
        <p:spPr>
          <a:xfrm>
            <a:off x="10976918" y="6214210"/>
            <a:ext cx="98854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RUP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0550B83-00D5-A57F-55EF-95D1644ED833}"/>
              </a:ext>
            </a:extLst>
          </p:cNvPr>
          <p:cNvSpPr txBox="1"/>
          <p:nvPr/>
        </p:nvSpPr>
        <p:spPr>
          <a:xfrm>
            <a:off x="-52103" y="5004460"/>
            <a:ext cx="216010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447338" y="705392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Metodología del Marco Lógico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2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4185F333-20C4-D571-9DFB-01147F74E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60632"/>
              </p:ext>
            </p:extLst>
          </p:nvPr>
        </p:nvGraphicFramePr>
        <p:xfrm>
          <a:off x="2165684" y="345824"/>
          <a:ext cx="9817769" cy="6115469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486526">
                  <a:extLst>
                    <a:ext uri="{9D8B030D-6E8A-4147-A177-3AD203B41FA5}">
                      <a16:colId xmlns:a16="http://schemas.microsoft.com/office/drawing/2014/main" val="3932871105"/>
                    </a:ext>
                  </a:extLst>
                </a:gridCol>
                <a:gridCol w="1925052">
                  <a:extLst>
                    <a:ext uri="{9D8B030D-6E8A-4147-A177-3AD203B41FA5}">
                      <a16:colId xmlns:a16="http://schemas.microsoft.com/office/drawing/2014/main" val="1035123079"/>
                    </a:ext>
                  </a:extLst>
                </a:gridCol>
                <a:gridCol w="2630906">
                  <a:extLst>
                    <a:ext uri="{9D8B030D-6E8A-4147-A177-3AD203B41FA5}">
                      <a16:colId xmlns:a16="http://schemas.microsoft.com/office/drawing/2014/main" val="4069526162"/>
                    </a:ext>
                  </a:extLst>
                </a:gridCol>
                <a:gridCol w="2775285">
                  <a:extLst>
                    <a:ext uri="{9D8B030D-6E8A-4147-A177-3AD203B41FA5}">
                      <a16:colId xmlns:a16="http://schemas.microsoft.com/office/drawing/2014/main" val="3920997913"/>
                    </a:ext>
                  </a:extLst>
                </a:gridCol>
              </a:tblGrid>
              <a:tr h="625352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Resumen de los Objetos</a:t>
                      </a:r>
                      <a:endParaRPr lang="es-E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Indicadores Verificables Objetivamente</a:t>
                      </a:r>
                      <a:endParaRPr lang="es-E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Medios</a:t>
                      </a:r>
                      <a:r>
                        <a:rPr lang="es-VE" sz="2400" dirty="0">
                          <a:effectLst/>
                        </a:rPr>
                        <a:t> </a:t>
                      </a:r>
                      <a:r>
                        <a:rPr lang="es-VE" sz="2000" dirty="0">
                          <a:effectLst/>
                        </a:rPr>
                        <a:t>de</a:t>
                      </a:r>
                      <a:r>
                        <a:rPr lang="es-VE" sz="2400" dirty="0">
                          <a:effectLst/>
                        </a:rPr>
                        <a:t> </a:t>
                      </a:r>
                      <a:r>
                        <a:rPr lang="es-VE" sz="2000" dirty="0">
                          <a:effectLst/>
                        </a:rPr>
                        <a:t>Verificación</a:t>
                      </a:r>
                      <a:endParaRPr lang="es-ES" sz="2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Supuesto</a:t>
                      </a:r>
                      <a:endParaRPr lang="es-E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692028"/>
                  </a:ext>
                </a:extLst>
              </a:tr>
              <a:tr h="835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Fin:</a:t>
                      </a:r>
                      <a:r>
                        <a:rPr lang="es-ES" sz="2000" baseline="0" dirty="0" smtClean="0">
                          <a:effectLst/>
                        </a:rPr>
                        <a:t> </a:t>
                      </a:r>
                      <a:r>
                        <a:rPr lang="es-VE" sz="2000" b="0" dirty="0" smtClean="0">
                          <a:effectLst/>
                        </a:rPr>
                        <a:t>Establecer </a:t>
                      </a:r>
                      <a:r>
                        <a:rPr lang="es-VE" sz="2000" b="0" dirty="0">
                          <a:effectLst/>
                        </a:rPr>
                        <a:t>un sistema </a:t>
                      </a:r>
                      <a:r>
                        <a:rPr lang="es-VE" sz="2000" b="0" dirty="0" smtClean="0">
                          <a:effectLst/>
                        </a:rPr>
                        <a:t>automatizado.</a:t>
                      </a:r>
                      <a:endParaRPr lang="es-E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100% de </a:t>
                      </a:r>
                      <a:r>
                        <a:rPr lang="es-VE" sz="2000" dirty="0" smtClean="0">
                          <a:effectLst/>
                        </a:rPr>
                        <a:t>Operatividad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Por medio de </a:t>
                      </a:r>
                      <a:r>
                        <a:rPr lang="es-VE" sz="2000" dirty="0" smtClean="0">
                          <a:effectLst/>
                        </a:rPr>
                        <a:t>Reportes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Apoyo por parte de los miembros de la Comunidad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221754"/>
                  </a:ext>
                </a:extLst>
              </a:tr>
              <a:tr h="835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Propósito:</a:t>
                      </a:r>
                      <a:r>
                        <a:rPr lang="es-ES" sz="2000" baseline="0" dirty="0" smtClean="0">
                          <a:effectLst/>
                        </a:rPr>
                        <a:t> </a:t>
                      </a:r>
                      <a:r>
                        <a:rPr lang="es-VE" sz="2000" b="0" dirty="0" smtClean="0">
                          <a:effectLst/>
                        </a:rPr>
                        <a:t>Llevar </a:t>
                      </a:r>
                      <a:r>
                        <a:rPr lang="es-VE" sz="2000" b="0" dirty="0">
                          <a:effectLst/>
                        </a:rPr>
                        <a:t>a </a:t>
                      </a:r>
                      <a:r>
                        <a:rPr lang="es-VE" sz="2000" b="0" dirty="0" smtClean="0">
                          <a:effectLst/>
                        </a:rPr>
                        <a:t>cabo </a:t>
                      </a:r>
                      <a:r>
                        <a:rPr lang="es-VE" sz="2000" b="0" dirty="0">
                          <a:effectLst/>
                        </a:rPr>
                        <a:t>las compras y ventas de “Taberna los 7 hermanos”</a:t>
                      </a:r>
                      <a:endParaRPr lang="es-E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Menos recursos </a:t>
                      </a:r>
                      <a:r>
                        <a:rPr lang="es-VE" sz="2000" dirty="0" smtClean="0">
                          <a:effectLst/>
                        </a:rPr>
                        <a:t>invertidos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Entrega de </a:t>
                      </a:r>
                      <a:r>
                        <a:rPr lang="es-VE" sz="2000" dirty="0" smtClean="0">
                          <a:effectLst/>
                        </a:rPr>
                        <a:t>reportes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Gestión de documentación mediante el sistema.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584138"/>
                  </a:ext>
                </a:extLst>
              </a:tr>
              <a:tr h="12906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Componentes</a:t>
                      </a:r>
                      <a:endParaRPr lang="es-E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Desarrollo </a:t>
                      </a:r>
                      <a:r>
                        <a:rPr lang="es-VE" sz="2000" dirty="0">
                          <a:effectLst/>
                        </a:rPr>
                        <a:t>de base de datos, </a:t>
                      </a:r>
                      <a:r>
                        <a:rPr lang="es-VE" sz="2000" dirty="0" smtClean="0">
                          <a:effectLst/>
                        </a:rPr>
                        <a:t>interfaz.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Prueba de interfaz y base de datos.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Apoyo de cualquier estrategia planteada para solucionar el </a:t>
                      </a:r>
                      <a:r>
                        <a:rPr lang="es-VE" sz="2000" dirty="0" smtClean="0">
                          <a:effectLst/>
                        </a:rPr>
                        <a:t>problema</a:t>
                      </a:r>
                      <a:r>
                        <a:rPr lang="es-VE" sz="2000" dirty="0">
                          <a:effectLst/>
                        </a:rPr>
                        <a:t>.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8774"/>
                  </a:ext>
                </a:extLst>
              </a:tr>
              <a:tr h="1807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Actividades</a:t>
                      </a:r>
                      <a:endParaRPr lang="es-E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Asignación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-Diccionario de </a:t>
                      </a:r>
                      <a:r>
                        <a:rPr lang="es-VE" sz="2000" dirty="0" smtClean="0">
                          <a:effectLst/>
                        </a:rPr>
                        <a:t>datos</a:t>
                      </a:r>
                      <a:endParaRPr lang="es-VE" sz="2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-Prueba </a:t>
                      </a:r>
                      <a:r>
                        <a:rPr lang="es-VE" sz="2000" dirty="0">
                          <a:effectLst/>
                        </a:rPr>
                        <a:t>de interfaz</a:t>
                      </a:r>
                      <a:endParaRPr lang="es-ES" sz="2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>
                          <a:effectLst/>
                        </a:rPr>
                        <a:t>-Prueba de </a:t>
                      </a:r>
                      <a:r>
                        <a:rPr lang="es-VE" sz="2000" dirty="0" smtClean="0">
                          <a:effectLst/>
                        </a:rPr>
                        <a:t>módulos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VE" sz="2000" dirty="0" smtClean="0">
                          <a:effectLst/>
                        </a:rPr>
                        <a:t>Se </a:t>
                      </a:r>
                      <a:r>
                        <a:rPr lang="es-VE" sz="2000" dirty="0">
                          <a:effectLst/>
                        </a:rPr>
                        <a:t>cumplen las actividades según lo planificado.</a:t>
                      </a:r>
                      <a:endParaRPr lang="es-E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028925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0" y="737436"/>
            <a:ext cx="21656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Matriz del Marco Lógico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8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A6B8E61-8D8B-3D20-CE4F-62D3E2EBEC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28"/>
          <a:stretch/>
        </p:blipFill>
        <p:spPr>
          <a:xfrm>
            <a:off x="1528507" y="4651590"/>
            <a:ext cx="4077729" cy="18756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uadroTexto 7"/>
          <p:cNvSpPr txBox="1"/>
          <p:nvPr/>
        </p:nvSpPr>
        <p:spPr>
          <a:xfrm>
            <a:off x="1407731" y="1844883"/>
            <a:ext cx="3258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POBLACIÓN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551365" y="1844883"/>
            <a:ext cx="2698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endParaRPr lang="es-V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ector recto 9"/>
          <p:cNvCxnSpPr/>
          <p:nvPr/>
        </p:nvCxnSpPr>
        <p:spPr>
          <a:xfrm>
            <a:off x="6095998" y="1652337"/>
            <a:ext cx="2" cy="4938244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 flipH="1" flipV="1">
            <a:off x="669983" y="2805855"/>
            <a:ext cx="10852030" cy="0"/>
          </a:xfrm>
          <a:prstGeom prst="line">
            <a:avLst/>
          </a:prstGeom>
          <a:ln w="76200">
            <a:solidFill>
              <a:srgbClr val="2980B9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346717" y="3200748"/>
            <a:ext cx="53803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es-VE" sz="24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</a:t>
            </a:r>
            <a:r>
              <a:rPr lang="es-VE" sz="24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refiere a un conjunto de individuos o de objetos sometidos a un estudio estadístico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6216795" y="3200748"/>
            <a:ext cx="53680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s-VE" sz="24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	Es </a:t>
            </a:r>
            <a:r>
              <a:rPr lang="es-VE" sz="2400" b="1" dirty="0">
                <a:latin typeface="Arial" panose="020B0604020202020204" pitchFamily="34" charset="0"/>
                <a:ea typeface="Calibri" panose="020F0502020204030204" pitchFamily="34" charset="0"/>
              </a:rPr>
              <a:t>una parte de la población, o sea un número de individuos u objetos seleccionados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EF4DC83-C53F-981A-70B9-A244100939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13370" r="91957"/>
                    </a14:imgEffect>
                  </a14:imgLayer>
                </a14:imgProps>
              </a:ext>
            </a:extLst>
          </a:blip>
          <a:srcRect l="15054"/>
          <a:stretch/>
        </p:blipFill>
        <p:spPr>
          <a:xfrm>
            <a:off x="8678779" y="4246963"/>
            <a:ext cx="3400861" cy="2611037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1483849" y="493311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Población y Muestra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29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8 Rectángulo">
            <a:extLst>
              <a:ext uri="{FF2B5EF4-FFF2-40B4-BE49-F238E27FC236}">
                <a16:creationId xmlns:a16="http://schemas.microsoft.com/office/drawing/2014/main" id="{E3C95A41-B738-6F9E-3D8E-DDFEB107EF69}"/>
              </a:ext>
            </a:extLst>
          </p:cNvPr>
          <p:cNvSpPr/>
          <p:nvPr/>
        </p:nvSpPr>
        <p:spPr>
          <a:xfrm>
            <a:off x="5155723" y="2856928"/>
            <a:ext cx="20866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dirty="0">
                <a:latin typeface="Trebuchet MS"/>
              </a:rPr>
              <a:t> </a:t>
            </a: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</a:rPr>
              <a:t>A</a:t>
            </a:r>
            <a:r>
              <a:rPr kumimoji="0" lang="es-VE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</a:rPr>
              <a:t>rias </a:t>
            </a: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</a:rPr>
              <a:t>(1999)</a:t>
            </a:r>
          </a:p>
        </p:txBody>
      </p:sp>
      <p:sp>
        <p:nvSpPr>
          <p:cNvPr id="9" name="13 Rectángulo">
            <a:extLst>
              <a:ext uri="{FF2B5EF4-FFF2-40B4-BE49-F238E27FC236}">
                <a16:creationId xmlns:a16="http://schemas.microsoft.com/office/drawing/2014/main" id="{ADE74FB2-F426-F7BC-1B0D-7A0844F02226}"/>
              </a:ext>
            </a:extLst>
          </p:cNvPr>
          <p:cNvSpPr/>
          <p:nvPr/>
        </p:nvSpPr>
        <p:spPr>
          <a:xfrm>
            <a:off x="669188" y="4020759"/>
            <a:ext cx="19608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Observación</a:t>
            </a:r>
          </a:p>
        </p:txBody>
      </p:sp>
      <p:sp>
        <p:nvSpPr>
          <p:cNvPr id="10" name="25 Rectángulo">
            <a:extLst>
              <a:ext uri="{FF2B5EF4-FFF2-40B4-BE49-F238E27FC236}">
                <a16:creationId xmlns:a16="http://schemas.microsoft.com/office/drawing/2014/main" id="{70FBEB7E-7336-FF01-7FA3-AA2C47E61479}"/>
              </a:ext>
            </a:extLst>
          </p:cNvPr>
          <p:cNvSpPr/>
          <p:nvPr/>
        </p:nvSpPr>
        <p:spPr>
          <a:xfrm>
            <a:off x="9723623" y="3947509"/>
            <a:ext cx="17643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Entrevista</a:t>
            </a:r>
          </a:p>
        </p:txBody>
      </p:sp>
      <p:sp>
        <p:nvSpPr>
          <p:cNvPr id="11" name="26 Rectángulo">
            <a:extLst>
              <a:ext uri="{FF2B5EF4-FFF2-40B4-BE49-F238E27FC236}">
                <a16:creationId xmlns:a16="http://schemas.microsoft.com/office/drawing/2014/main" id="{7C079C55-1605-60F0-06F5-B097B4E9C527}"/>
              </a:ext>
            </a:extLst>
          </p:cNvPr>
          <p:cNvSpPr/>
          <p:nvPr/>
        </p:nvSpPr>
        <p:spPr>
          <a:xfrm>
            <a:off x="9871027" y="5161626"/>
            <a:ext cx="14695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Márquez (1996)</a:t>
            </a:r>
          </a:p>
        </p:txBody>
      </p:sp>
      <p:sp>
        <p:nvSpPr>
          <p:cNvPr id="12" name="27 Rectángulo">
            <a:extLst>
              <a:ext uri="{FF2B5EF4-FFF2-40B4-BE49-F238E27FC236}">
                <a16:creationId xmlns:a16="http://schemas.microsoft.com/office/drawing/2014/main" id="{C19331AD-ED90-040C-143E-DF526D38DCFB}"/>
              </a:ext>
            </a:extLst>
          </p:cNvPr>
          <p:cNvSpPr/>
          <p:nvPr/>
        </p:nvSpPr>
        <p:spPr>
          <a:xfrm rot="10800000" flipV="1">
            <a:off x="343316" y="5194864"/>
            <a:ext cx="26126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Hernández, </a:t>
            </a:r>
            <a:r>
              <a:rPr kumimoji="0" lang="es-VE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Ferández</a:t>
            </a: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y Baptista (1998)</a:t>
            </a:r>
          </a:p>
        </p:txBody>
      </p:sp>
      <p:sp>
        <p:nvSpPr>
          <p:cNvPr id="13" name="52 CuadroTexto">
            <a:extLst>
              <a:ext uri="{FF2B5EF4-FFF2-40B4-BE49-F238E27FC236}">
                <a16:creationId xmlns:a16="http://schemas.microsoft.com/office/drawing/2014/main" id="{9BB7B224-4108-6366-44D0-246552A5111E}"/>
              </a:ext>
            </a:extLst>
          </p:cNvPr>
          <p:cNvSpPr txBox="1"/>
          <p:nvPr/>
        </p:nvSpPr>
        <p:spPr>
          <a:xfrm>
            <a:off x="5096349" y="4060242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sz="2400" dirty="0">
                <a:latin typeface="Arial" panose="020B0604020202020204" pitchFamily="34" charset="0"/>
                <a:cs typeface="Arial" panose="020B0604020202020204" pitchFamily="34" charset="0"/>
              </a:rPr>
              <a:t>Observaciones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AA22D33-E713-A8AD-7526-C9A083A7F61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199071" y="2344079"/>
            <a:ext cx="1" cy="512849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B65383E-08F0-9B77-3373-24FA67C92647}"/>
              </a:ext>
            </a:extLst>
          </p:cNvPr>
          <p:cNvCxnSpPr>
            <a:cxnSpLocks/>
          </p:cNvCxnSpPr>
          <p:nvPr/>
        </p:nvCxnSpPr>
        <p:spPr>
          <a:xfrm>
            <a:off x="6190832" y="3286052"/>
            <a:ext cx="8238" cy="359005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44C33DB-6BE0-8A91-8CBA-8DBDDF15517F}"/>
              </a:ext>
            </a:extLst>
          </p:cNvPr>
          <p:cNvCxnSpPr>
            <a:cxnSpLocks/>
          </p:cNvCxnSpPr>
          <p:nvPr/>
        </p:nvCxnSpPr>
        <p:spPr>
          <a:xfrm flipH="1">
            <a:off x="1649626" y="3662615"/>
            <a:ext cx="8892747" cy="0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F2A7E1A-6777-8642-DC74-9E56D96D0626}"/>
              </a:ext>
            </a:extLst>
          </p:cNvPr>
          <p:cNvCxnSpPr>
            <a:cxnSpLocks/>
          </p:cNvCxnSpPr>
          <p:nvPr/>
        </p:nvCxnSpPr>
        <p:spPr>
          <a:xfrm>
            <a:off x="1650926" y="3645057"/>
            <a:ext cx="0" cy="34599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9E9979D-AED8-4D49-9389-B7C1E9D627AB}"/>
              </a:ext>
            </a:extLst>
          </p:cNvPr>
          <p:cNvCxnSpPr>
            <a:cxnSpLocks/>
          </p:cNvCxnSpPr>
          <p:nvPr/>
        </p:nvCxnSpPr>
        <p:spPr>
          <a:xfrm>
            <a:off x="10542373" y="3662615"/>
            <a:ext cx="0" cy="34599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462D473-FE8C-D41F-2869-63BD7E5BC6D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10605778" y="4409174"/>
            <a:ext cx="1" cy="752452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EA14EB6-83B1-89BB-AAEA-D4B6260856BC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1649626" y="4482424"/>
            <a:ext cx="0" cy="71244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492200F-5CDA-57E0-BAF1-A8075119C34F}"/>
              </a:ext>
            </a:extLst>
          </p:cNvPr>
          <p:cNvCxnSpPr>
            <a:cxnSpLocks/>
          </p:cNvCxnSpPr>
          <p:nvPr/>
        </p:nvCxnSpPr>
        <p:spPr>
          <a:xfrm>
            <a:off x="6216207" y="3696708"/>
            <a:ext cx="0" cy="36000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227CF3B-1F4F-79DF-FE63-01F37399B70D}"/>
              </a:ext>
            </a:extLst>
          </p:cNvPr>
          <p:cNvCxnSpPr>
            <a:cxnSpLocks/>
          </p:cNvCxnSpPr>
          <p:nvPr/>
        </p:nvCxnSpPr>
        <p:spPr>
          <a:xfrm flipH="1">
            <a:off x="4020063" y="4624113"/>
            <a:ext cx="4151870" cy="13016"/>
          </a:xfrm>
          <a:prstGeom prst="line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C065D6D-BBBA-D75C-8F50-341FB5C6403C}"/>
              </a:ext>
            </a:extLst>
          </p:cNvPr>
          <p:cNvCxnSpPr>
            <a:cxnSpLocks/>
          </p:cNvCxnSpPr>
          <p:nvPr/>
        </p:nvCxnSpPr>
        <p:spPr>
          <a:xfrm>
            <a:off x="4020063" y="4619198"/>
            <a:ext cx="0" cy="34599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56E5C58-8523-9084-36C8-44768A8D973B}"/>
              </a:ext>
            </a:extLst>
          </p:cNvPr>
          <p:cNvCxnSpPr>
            <a:cxnSpLocks/>
          </p:cNvCxnSpPr>
          <p:nvPr/>
        </p:nvCxnSpPr>
        <p:spPr>
          <a:xfrm>
            <a:off x="8171933" y="4603934"/>
            <a:ext cx="0" cy="345990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13 Rectángulo">
            <a:extLst>
              <a:ext uri="{FF2B5EF4-FFF2-40B4-BE49-F238E27FC236}">
                <a16:creationId xmlns:a16="http://schemas.microsoft.com/office/drawing/2014/main" id="{86362188-0175-656C-092F-7FA793C4459F}"/>
              </a:ext>
            </a:extLst>
          </p:cNvPr>
          <p:cNvSpPr/>
          <p:nvPr/>
        </p:nvSpPr>
        <p:spPr>
          <a:xfrm>
            <a:off x="3089449" y="4964032"/>
            <a:ext cx="17641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Registros Manuales</a:t>
            </a:r>
          </a:p>
        </p:txBody>
      </p:sp>
      <p:sp>
        <p:nvSpPr>
          <p:cNvPr id="26" name="13 Rectángulo">
            <a:extLst>
              <a:ext uri="{FF2B5EF4-FFF2-40B4-BE49-F238E27FC236}">
                <a16:creationId xmlns:a16="http://schemas.microsoft.com/office/drawing/2014/main" id="{E5ECE065-13D4-4B44-6C63-8A3C4C0AFFF9}"/>
              </a:ext>
            </a:extLst>
          </p:cNvPr>
          <p:cNvSpPr/>
          <p:nvPr/>
        </p:nvSpPr>
        <p:spPr>
          <a:xfrm>
            <a:off x="7229823" y="4998027"/>
            <a:ext cx="176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 Equipos 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36BA04E-8E46-53FF-A2F1-F05D408253BB}"/>
              </a:ext>
            </a:extLst>
          </p:cNvPr>
          <p:cNvCxnSpPr>
            <a:cxnSpLocks/>
          </p:cNvCxnSpPr>
          <p:nvPr/>
        </p:nvCxnSpPr>
        <p:spPr>
          <a:xfrm>
            <a:off x="6104236" y="4632214"/>
            <a:ext cx="0" cy="570716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13 Rectángulo">
            <a:extLst>
              <a:ext uri="{FF2B5EF4-FFF2-40B4-BE49-F238E27FC236}">
                <a16:creationId xmlns:a16="http://schemas.microsoft.com/office/drawing/2014/main" id="{F7C20A0E-E6A7-192B-8282-4AB37C4F7242}"/>
              </a:ext>
            </a:extLst>
          </p:cNvPr>
          <p:cNvSpPr/>
          <p:nvPr/>
        </p:nvSpPr>
        <p:spPr>
          <a:xfrm>
            <a:off x="5222155" y="5211747"/>
            <a:ext cx="17641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Planillas semanales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1483849" y="493311"/>
            <a:ext cx="92242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Técnicas e Instrumentos de Recolección de Datos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8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A2AFA72-036A-7DCB-D2A3-FDEDAABEF735}"/>
              </a:ext>
            </a:extLst>
          </p:cNvPr>
          <p:cNvSpPr txBox="1"/>
          <p:nvPr/>
        </p:nvSpPr>
        <p:spPr>
          <a:xfrm>
            <a:off x="3449053" y="3465513"/>
            <a:ext cx="7860632" cy="12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¿Está de acuerdo en instalar un sistema automatizado como reemplazo al actual sistema de registro y control e inventario?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677D745-04F5-4E10-83D4-133573262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68775"/>
              </p:ext>
            </p:extLst>
          </p:nvPr>
        </p:nvGraphicFramePr>
        <p:xfrm>
          <a:off x="240714" y="3128211"/>
          <a:ext cx="2903539" cy="335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A4EC796C-9F3B-2CE3-0BD3-F96DC14A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125" y="5107093"/>
            <a:ext cx="4479324" cy="1167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CuadroTexto 10"/>
          <p:cNvSpPr txBox="1"/>
          <p:nvPr/>
        </p:nvSpPr>
        <p:spPr>
          <a:xfrm>
            <a:off x="1483849" y="493311"/>
            <a:ext cx="92242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Técnicas e Instrumentos de Recolección de Datos</a:t>
            </a:r>
          </a:p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(Entrevista)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1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A2AFA72-036A-7DCB-D2A3-FDEDAABEF735}"/>
              </a:ext>
            </a:extLst>
          </p:cNvPr>
          <p:cNvSpPr txBox="1"/>
          <p:nvPr/>
        </p:nvSpPr>
        <p:spPr>
          <a:xfrm>
            <a:off x="3449053" y="3465513"/>
            <a:ext cx="7860632" cy="85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¿Cree que un sistema automatizado puede mejorar rendimiento y control administrativo?</a:t>
            </a: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E677D745-04F5-4E10-83D4-133573262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418179"/>
              </p:ext>
            </p:extLst>
          </p:nvPr>
        </p:nvGraphicFramePr>
        <p:xfrm>
          <a:off x="160421" y="3207149"/>
          <a:ext cx="2855495" cy="3346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FB217D52-3366-C8A3-376D-E064A17C9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613" y="4907419"/>
            <a:ext cx="4446373" cy="1159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uadroTexto 8"/>
          <p:cNvSpPr txBox="1"/>
          <p:nvPr/>
        </p:nvSpPr>
        <p:spPr>
          <a:xfrm>
            <a:off x="1483849" y="493311"/>
            <a:ext cx="92242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Técnicas e Instrumentos de Recolección de Datos</a:t>
            </a:r>
          </a:p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(Entrevista)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1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B9AB8E5-F488-B7AD-66DD-41AD9D9CD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61525"/>
              </p:ext>
            </p:extLst>
          </p:nvPr>
        </p:nvGraphicFramePr>
        <p:xfrm>
          <a:off x="256669" y="2550498"/>
          <a:ext cx="5839329" cy="3815654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2936794">
                  <a:extLst>
                    <a:ext uri="{9D8B030D-6E8A-4147-A177-3AD203B41FA5}">
                      <a16:colId xmlns:a16="http://schemas.microsoft.com/office/drawing/2014/main" val="1372591622"/>
                    </a:ext>
                  </a:extLst>
                </a:gridCol>
                <a:gridCol w="2902535">
                  <a:extLst>
                    <a:ext uri="{9D8B030D-6E8A-4147-A177-3AD203B41FA5}">
                      <a16:colId xmlns:a16="http://schemas.microsoft.com/office/drawing/2014/main" val="3415781185"/>
                    </a:ext>
                  </a:extLst>
                </a:gridCol>
              </a:tblGrid>
              <a:tr h="47377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Software y Hardware para el desarrollo del </a:t>
                      </a:r>
                      <a:r>
                        <a:rPr lang="es-VE" sz="2800" kern="1200" dirty="0" smtClean="0">
                          <a:effectLst/>
                        </a:rPr>
                        <a:t>Sistema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65257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SISTEMA OPERATIVO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Windows 7 y 8.1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74282271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PROCESADOR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 smtClean="0">
                          <a:effectLst/>
                        </a:rPr>
                        <a:t>Intel </a:t>
                      </a:r>
                      <a:r>
                        <a:rPr lang="es-VE" sz="2800" kern="1200" dirty="0">
                          <a:effectLst/>
                        </a:rPr>
                        <a:t>Celeron 1.46 </a:t>
                      </a:r>
                      <a:r>
                        <a:rPr lang="es-VE" sz="2800" kern="1200" dirty="0" smtClean="0">
                          <a:effectLst/>
                        </a:rPr>
                        <a:t>Ghz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304068322"/>
                  </a:ext>
                </a:extLst>
              </a:tr>
              <a:tr h="311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>
                          <a:effectLst/>
                        </a:rPr>
                        <a:t>MEMORIA RAM</a:t>
                      </a:r>
                      <a:endParaRPr lang="es-E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2800" dirty="0">
                          <a:effectLst/>
                        </a:rPr>
                        <a:t>2 GB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209054151"/>
                  </a:ext>
                </a:extLst>
              </a:tr>
              <a:tr h="311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>
                          <a:effectLst/>
                        </a:rPr>
                        <a:t>DISCO DURO</a:t>
                      </a:r>
                      <a:endParaRPr lang="es-E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320 GB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656019897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5C719597-29EC-E7DF-C5DE-47671AA5E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310838"/>
              </p:ext>
            </p:extLst>
          </p:nvPr>
        </p:nvGraphicFramePr>
        <p:xfrm>
          <a:off x="6352673" y="2550498"/>
          <a:ext cx="5567911" cy="3417363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2799758">
                  <a:extLst>
                    <a:ext uri="{9D8B030D-6E8A-4147-A177-3AD203B41FA5}">
                      <a16:colId xmlns:a16="http://schemas.microsoft.com/office/drawing/2014/main" val="2685345600"/>
                    </a:ext>
                  </a:extLst>
                </a:gridCol>
                <a:gridCol w="2768153">
                  <a:extLst>
                    <a:ext uri="{9D8B030D-6E8A-4147-A177-3AD203B41FA5}">
                      <a16:colId xmlns:a16="http://schemas.microsoft.com/office/drawing/2014/main" val="1197458204"/>
                    </a:ext>
                  </a:extLst>
                </a:gridCol>
              </a:tblGrid>
              <a:tr h="561131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Software y Hardware del Local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132850"/>
                  </a:ext>
                </a:extLst>
              </a:tr>
              <a:tr h="4632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SISTEMA OPERATIVO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Windows 7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817696231"/>
                  </a:ext>
                </a:extLst>
              </a:tr>
              <a:tr h="9162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>
                          <a:effectLst/>
                        </a:rPr>
                        <a:t>PROCESADOR</a:t>
                      </a:r>
                      <a:endParaRPr lang="es-E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 smtClean="0">
                          <a:effectLst/>
                        </a:rPr>
                        <a:t>ATOM </a:t>
                      </a:r>
                      <a:r>
                        <a:rPr lang="es-VE" sz="2800" kern="1200" dirty="0">
                          <a:effectLst/>
                        </a:rPr>
                        <a:t>N455 1660Mhz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600191847"/>
                  </a:ext>
                </a:extLst>
              </a:tr>
              <a:tr h="4632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>
                          <a:effectLst/>
                        </a:rPr>
                        <a:t>MEMORIA RAM</a:t>
                      </a:r>
                      <a:endParaRPr lang="es-ES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2800" dirty="0">
                          <a:effectLst/>
                        </a:rPr>
                        <a:t>1GB DDR3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255572731"/>
                  </a:ext>
                </a:extLst>
              </a:tr>
              <a:tr h="4632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DISCO DURO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800" kern="1200" dirty="0">
                          <a:effectLst/>
                        </a:rPr>
                        <a:t>320 GB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3305240102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1483849" y="493311"/>
            <a:ext cx="92242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Plataforma a Nivel de Sofware y Hardware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3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4856B56C-1AEE-DF97-3FDC-8960306CBABD}"/>
              </a:ext>
            </a:extLst>
          </p:cNvPr>
          <p:cNvSpPr txBox="1">
            <a:spLocks/>
          </p:cNvSpPr>
          <p:nvPr/>
        </p:nvSpPr>
        <p:spPr>
          <a:xfrm>
            <a:off x="771307" y="2828943"/>
            <a:ext cx="2259617" cy="8963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Factibilidad técnica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1C74851-7609-DDCB-1DAB-A1AADE559F5C}"/>
              </a:ext>
            </a:extLst>
          </p:cNvPr>
          <p:cNvSpPr txBox="1">
            <a:spLocks/>
          </p:cNvSpPr>
          <p:nvPr/>
        </p:nvSpPr>
        <p:spPr>
          <a:xfrm>
            <a:off x="9367218" y="2828943"/>
            <a:ext cx="2070946" cy="8963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Factibilidad humana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6E5BCB7-EBCD-9420-08A5-E72EDB76E830}"/>
              </a:ext>
            </a:extLst>
          </p:cNvPr>
          <p:cNvSpPr txBox="1">
            <a:spLocks/>
          </p:cNvSpPr>
          <p:nvPr/>
        </p:nvSpPr>
        <p:spPr>
          <a:xfrm>
            <a:off x="5117462" y="2734264"/>
            <a:ext cx="2163218" cy="9202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Factibilidad económica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B65383E-08F0-9B77-3373-24FA67C92647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6199071" y="1913192"/>
            <a:ext cx="1" cy="821072"/>
          </a:xfrm>
          <a:prstGeom prst="line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F2A7E1A-6777-8642-DC74-9E56D96D0626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901116" y="1651582"/>
            <a:ext cx="2094900" cy="1177361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9E9979D-AED8-4D49-9389-B7C1E9D627A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402127" y="1651582"/>
            <a:ext cx="2000564" cy="1177361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611029" y="4159954"/>
            <a:ext cx="2597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Conocimientos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611030" y="4900369"/>
            <a:ext cx="204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Equipos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71102" y="5640784"/>
            <a:ext cx="253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Abrir corchete 33"/>
          <p:cNvSpPr/>
          <p:nvPr/>
        </p:nvSpPr>
        <p:spPr>
          <a:xfrm>
            <a:off x="496444" y="3465513"/>
            <a:ext cx="298184" cy="2636936"/>
          </a:xfrm>
          <a:prstGeom prst="leftBracket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5" name="CuadroTexto 34"/>
          <p:cNvSpPr txBox="1"/>
          <p:nvPr/>
        </p:nvSpPr>
        <p:spPr>
          <a:xfrm>
            <a:off x="5018311" y="4390786"/>
            <a:ext cx="2361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Financiamiento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Conector recto de flecha 35"/>
          <p:cNvCxnSpPr>
            <a:stCxn id="15" idx="2"/>
            <a:endCxn id="35" idx="0"/>
          </p:cNvCxnSpPr>
          <p:nvPr/>
        </p:nvCxnSpPr>
        <p:spPr>
          <a:xfrm>
            <a:off x="6199071" y="3654503"/>
            <a:ext cx="0" cy="736283"/>
          </a:xfrm>
          <a:prstGeom prst="straightConnector1">
            <a:avLst/>
          </a:prstGeom>
          <a:ln w="76200">
            <a:solidFill>
              <a:srgbClr val="2980B9"/>
            </a:solidFill>
            <a:tailEnd type="triangle"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>
            <a:off x="9319867" y="4043735"/>
            <a:ext cx="1979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Personal de trabajo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9319867" y="5193202"/>
            <a:ext cx="168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VE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Usuario final</a:t>
            </a:r>
            <a:endParaRPr lang="es-V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Abrir corchete 61"/>
          <p:cNvSpPr/>
          <p:nvPr/>
        </p:nvSpPr>
        <p:spPr>
          <a:xfrm flipH="1">
            <a:off x="11252420" y="3465513"/>
            <a:ext cx="298184" cy="2636936"/>
          </a:xfrm>
          <a:prstGeom prst="leftBracket">
            <a:avLst/>
          </a:prstGeom>
          <a:ln w="76200">
            <a:solidFill>
              <a:srgbClr val="2980B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1" name="CuadroTexto 20"/>
          <p:cNvSpPr txBox="1"/>
          <p:nvPr/>
        </p:nvSpPr>
        <p:spPr>
          <a:xfrm>
            <a:off x="1483849" y="493311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Estudio de la Factibilidad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58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B94C204E-EE16-2CC5-CB07-F70947F79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42345"/>
              </p:ext>
            </p:extLst>
          </p:nvPr>
        </p:nvGraphicFramePr>
        <p:xfrm>
          <a:off x="336883" y="473340"/>
          <a:ext cx="11614485" cy="4900253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4363454">
                  <a:extLst>
                    <a:ext uri="{9D8B030D-6E8A-4147-A177-3AD203B41FA5}">
                      <a16:colId xmlns:a16="http://schemas.microsoft.com/office/drawing/2014/main" val="86335900"/>
                    </a:ext>
                  </a:extLst>
                </a:gridCol>
                <a:gridCol w="513347">
                  <a:extLst>
                    <a:ext uri="{9D8B030D-6E8A-4147-A177-3AD203B41FA5}">
                      <a16:colId xmlns:a16="http://schemas.microsoft.com/office/drawing/2014/main" val="2722327569"/>
                    </a:ext>
                  </a:extLst>
                </a:gridCol>
                <a:gridCol w="497305">
                  <a:extLst>
                    <a:ext uri="{9D8B030D-6E8A-4147-A177-3AD203B41FA5}">
                      <a16:colId xmlns:a16="http://schemas.microsoft.com/office/drawing/2014/main" val="3992301896"/>
                    </a:ext>
                  </a:extLst>
                </a:gridCol>
                <a:gridCol w="465221">
                  <a:extLst>
                    <a:ext uri="{9D8B030D-6E8A-4147-A177-3AD203B41FA5}">
                      <a16:colId xmlns:a16="http://schemas.microsoft.com/office/drawing/2014/main" val="893798549"/>
                    </a:ext>
                  </a:extLst>
                </a:gridCol>
                <a:gridCol w="481264">
                  <a:extLst>
                    <a:ext uri="{9D8B030D-6E8A-4147-A177-3AD203B41FA5}">
                      <a16:colId xmlns:a16="http://schemas.microsoft.com/office/drawing/2014/main" val="678131382"/>
                    </a:ext>
                  </a:extLst>
                </a:gridCol>
                <a:gridCol w="513347">
                  <a:extLst>
                    <a:ext uri="{9D8B030D-6E8A-4147-A177-3AD203B41FA5}">
                      <a16:colId xmlns:a16="http://schemas.microsoft.com/office/drawing/2014/main" val="222070327"/>
                    </a:ext>
                  </a:extLst>
                </a:gridCol>
                <a:gridCol w="513347">
                  <a:extLst>
                    <a:ext uri="{9D8B030D-6E8A-4147-A177-3AD203B41FA5}">
                      <a16:colId xmlns:a16="http://schemas.microsoft.com/office/drawing/2014/main" val="3194902403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val="3581065385"/>
                    </a:ext>
                  </a:extLst>
                </a:gridCol>
                <a:gridCol w="545432">
                  <a:extLst>
                    <a:ext uri="{9D8B030D-6E8A-4147-A177-3AD203B41FA5}">
                      <a16:colId xmlns:a16="http://schemas.microsoft.com/office/drawing/2014/main" val="4060479319"/>
                    </a:ext>
                  </a:extLst>
                </a:gridCol>
                <a:gridCol w="593558">
                  <a:extLst>
                    <a:ext uri="{9D8B030D-6E8A-4147-A177-3AD203B41FA5}">
                      <a16:colId xmlns:a16="http://schemas.microsoft.com/office/drawing/2014/main" val="2746006888"/>
                    </a:ext>
                  </a:extLst>
                </a:gridCol>
                <a:gridCol w="529389">
                  <a:extLst>
                    <a:ext uri="{9D8B030D-6E8A-4147-A177-3AD203B41FA5}">
                      <a16:colId xmlns:a16="http://schemas.microsoft.com/office/drawing/2014/main" val="3883879030"/>
                    </a:ext>
                  </a:extLst>
                </a:gridCol>
                <a:gridCol w="593558">
                  <a:extLst>
                    <a:ext uri="{9D8B030D-6E8A-4147-A177-3AD203B41FA5}">
                      <a16:colId xmlns:a16="http://schemas.microsoft.com/office/drawing/2014/main" val="1741473472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385750198"/>
                    </a:ext>
                  </a:extLst>
                </a:gridCol>
                <a:gridCol w="802105">
                  <a:extLst>
                    <a:ext uri="{9D8B030D-6E8A-4147-A177-3AD203B41FA5}">
                      <a16:colId xmlns:a16="http://schemas.microsoft.com/office/drawing/2014/main" val="4043192477"/>
                    </a:ext>
                  </a:extLst>
                </a:gridCol>
              </a:tblGrid>
              <a:tr h="465294">
                <a:tc gridSpan="14">
                  <a:txBody>
                    <a:bodyPr/>
                    <a:lstStyle/>
                    <a:p>
                      <a:pPr marL="365760" algn="ctr" eaLnBrk="0" fontAlgn="base" hangingPunct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2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Cronograma de actividades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069042"/>
                  </a:ext>
                </a:extLst>
              </a:tr>
              <a:tr h="388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Actividades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Tiempo-Meses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824676"/>
                  </a:ext>
                </a:extLst>
              </a:tr>
              <a:tr h="3575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Nov.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Ene.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Ago.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442577"/>
                  </a:ext>
                </a:extLst>
              </a:tr>
              <a:tr h="566342">
                <a:tc>
                  <a:txBody>
                    <a:bodyPr/>
                    <a:lstStyle/>
                    <a:p>
                      <a:pPr marL="23495" indent="-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Búsqueda de la institución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58836"/>
                  </a:ext>
                </a:extLst>
              </a:tr>
              <a:tr h="482057">
                <a:tc>
                  <a:txBody>
                    <a:bodyPr/>
                    <a:lstStyle/>
                    <a:p>
                      <a:pPr marL="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Visitas al Local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697904"/>
                  </a:ext>
                </a:extLst>
              </a:tr>
              <a:tr h="575789">
                <a:tc>
                  <a:txBody>
                    <a:bodyPr/>
                    <a:lstStyle/>
                    <a:p>
                      <a:pPr indent="-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Realización de la entrevista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947378"/>
                  </a:ext>
                </a:extLst>
              </a:tr>
              <a:tr h="589178">
                <a:tc>
                  <a:txBody>
                    <a:bodyPr/>
                    <a:lstStyle/>
                    <a:p>
                      <a:pPr marL="23495" indent="-2349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Observación de equipos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33170"/>
                  </a:ext>
                </a:extLst>
              </a:tr>
              <a:tr h="6972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Desarrollo del sistema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63963"/>
                  </a:ext>
                </a:extLst>
              </a:tr>
              <a:tr h="7631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Desarrollo del Proyecto (teoría)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03" marR="52803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433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14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A43D7564-D28F-53FE-26D1-2920250A1F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88216"/>
              </p:ext>
            </p:extLst>
          </p:nvPr>
        </p:nvGraphicFramePr>
        <p:xfrm>
          <a:off x="-384042" y="507158"/>
          <a:ext cx="8063470" cy="5255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850A22FB-0675-3C56-45E7-F573B9096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84" y="3000174"/>
            <a:ext cx="4995907" cy="35322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uadroTexto 7"/>
          <p:cNvSpPr txBox="1"/>
          <p:nvPr/>
        </p:nvSpPr>
        <p:spPr>
          <a:xfrm>
            <a:off x="6825567" y="0"/>
            <a:ext cx="48367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Metodología Utilizada Para el Desarrollo del Proyecto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81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7093966E-3CB2-C9C4-556E-98E747E8B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61801"/>
              </p:ext>
            </p:extLst>
          </p:nvPr>
        </p:nvGraphicFramePr>
        <p:xfrm>
          <a:off x="2582779" y="94256"/>
          <a:ext cx="9368590" cy="6866097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555958">
                  <a:extLst>
                    <a:ext uri="{9D8B030D-6E8A-4147-A177-3AD203B41FA5}">
                      <a16:colId xmlns:a16="http://schemas.microsoft.com/office/drawing/2014/main" val="925980726"/>
                    </a:ext>
                  </a:extLst>
                </a:gridCol>
                <a:gridCol w="1796716">
                  <a:extLst>
                    <a:ext uri="{9D8B030D-6E8A-4147-A177-3AD203B41FA5}">
                      <a16:colId xmlns:a16="http://schemas.microsoft.com/office/drawing/2014/main" val="3533440837"/>
                    </a:ext>
                  </a:extLst>
                </a:gridCol>
                <a:gridCol w="3015916">
                  <a:extLst>
                    <a:ext uri="{9D8B030D-6E8A-4147-A177-3AD203B41FA5}">
                      <a16:colId xmlns:a16="http://schemas.microsoft.com/office/drawing/2014/main" val="1545141390"/>
                    </a:ext>
                  </a:extLst>
                </a:gridCol>
              </a:tblGrid>
              <a:tr h="391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Cuadro operativo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1739" marR="15459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Fase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1739" marR="15459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Actividades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1739" marR="15459" marT="0" marB="0" anchor="ctr"/>
                </a:tc>
                <a:extLst>
                  <a:ext uri="{0D108BD9-81ED-4DB2-BD59-A6C34878D82A}">
                    <a16:rowId xmlns:a16="http://schemas.microsoft.com/office/drawing/2014/main" val="2141625042"/>
                  </a:ext>
                </a:extLst>
              </a:tr>
              <a:tr h="12363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640"/>
                        </a:spcAft>
                      </a:pPr>
                      <a:r>
                        <a:rPr lang="es-VE" sz="1800" b="0" dirty="0">
                          <a:effectLst/>
                        </a:rPr>
                        <a:t>Entrevistar a las </a:t>
                      </a:r>
                      <a:r>
                        <a:rPr lang="es-VE" sz="1800" b="0" dirty="0" smtClean="0">
                          <a:effectLst/>
                        </a:rPr>
                        <a:t>personas</a:t>
                      </a:r>
                      <a:r>
                        <a:rPr lang="es-VE" sz="1800" b="0" baseline="0" dirty="0" smtClean="0">
                          <a:effectLst/>
                        </a:rPr>
                        <a:t> </a:t>
                      </a:r>
                      <a:r>
                        <a:rPr lang="es-VE" sz="1800" b="0" dirty="0" smtClean="0">
                          <a:effectLst/>
                        </a:rPr>
                        <a:t>encargadas </a:t>
                      </a:r>
                      <a:r>
                        <a:rPr lang="es-VE" sz="1800" b="0" dirty="0">
                          <a:effectLst/>
                        </a:rPr>
                        <a:t>y que trabajan en el local “Taberna los 7 hermanos”</a:t>
                      </a:r>
                      <a:endParaRPr lang="es-E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423545" algn="l">
                        <a:lnSpc>
                          <a:spcPct val="107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Inicio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670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Identificar</a:t>
                      </a:r>
                      <a:r>
                        <a:rPr lang="es-VE" sz="1800" baseline="0" dirty="0" smtClean="0">
                          <a:effectLst/>
                        </a:rPr>
                        <a:t> </a:t>
                      </a:r>
                      <a:r>
                        <a:rPr lang="es-VE" sz="1800" dirty="0" smtClean="0">
                          <a:effectLst/>
                        </a:rPr>
                        <a:t>la </a:t>
                      </a:r>
                      <a:r>
                        <a:rPr lang="es-VE" sz="1800" dirty="0">
                          <a:effectLst/>
                        </a:rPr>
                        <a:t>problemática </a:t>
                      </a:r>
                      <a:r>
                        <a:rPr lang="es-VE" sz="1800" dirty="0" smtClean="0">
                          <a:effectLst/>
                        </a:rPr>
                        <a:t>existente.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972369712"/>
                  </a:ext>
                </a:extLst>
              </a:tr>
              <a:tr h="12107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46000"/>
                        </a:lnSpc>
                        <a:spcAft>
                          <a:spcPts val="640"/>
                        </a:spcAft>
                      </a:pPr>
                      <a:r>
                        <a:rPr lang="es-VE" sz="1800" b="0" dirty="0">
                          <a:effectLst/>
                        </a:rPr>
                        <a:t>Analizar la información que se recolectó para iniciar al diseño del </a:t>
                      </a:r>
                      <a:r>
                        <a:rPr lang="es-VE" sz="1800" b="0" dirty="0" smtClean="0">
                          <a:effectLst/>
                        </a:rPr>
                        <a:t>sistema automatizado.</a:t>
                      </a:r>
                      <a:endParaRPr lang="es-E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1485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Elaboración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680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Recolectar</a:t>
                      </a:r>
                      <a:r>
                        <a:rPr lang="es-VE" sz="1800" baseline="0" dirty="0">
                          <a:effectLst/>
                        </a:rPr>
                        <a:t> </a:t>
                      </a:r>
                      <a:r>
                        <a:rPr lang="es-VE" sz="1800" dirty="0" smtClean="0">
                          <a:effectLst/>
                        </a:rPr>
                        <a:t>la información</a:t>
                      </a:r>
                      <a:r>
                        <a:rPr lang="es-VE" sz="1800" baseline="0" dirty="0" smtClean="0">
                          <a:effectLst/>
                        </a:rPr>
                        <a:t> necesaria.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077656511"/>
                  </a:ext>
                </a:extLst>
              </a:tr>
              <a:tr h="15952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R="1270" algn="just">
                        <a:lnSpc>
                          <a:spcPct val="146000"/>
                        </a:lnSpc>
                        <a:spcAft>
                          <a:spcPts val="640"/>
                        </a:spcAft>
                      </a:pPr>
                      <a:r>
                        <a:rPr lang="es-VE" sz="1800" b="0" dirty="0">
                          <a:effectLst/>
                        </a:rPr>
                        <a:t>Se programarán los módulos que estarán presente el </a:t>
                      </a:r>
                      <a:r>
                        <a:rPr lang="es-VE" sz="1800" b="0" dirty="0" smtClean="0">
                          <a:effectLst/>
                        </a:rPr>
                        <a:t>sistema.</a:t>
                      </a:r>
                      <a:endParaRPr lang="es-E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1485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Construcción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46000"/>
                        </a:lnSpc>
                        <a:spcAft>
                          <a:spcPts val="650"/>
                        </a:spcAft>
                      </a:pPr>
                      <a:r>
                        <a:rPr lang="es-VE" sz="1800" dirty="0">
                          <a:effectLst/>
                        </a:rPr>
                        <a:t>Se realizarán las pruebas de caja negra y caja blanca para detectar cualquier falla </a:t>
                      </a:r>
                      <a:r>
                        <a:rPr lang="es-VE" sz="1800" dirty="0" smtClean="0">
                          <a:effectLst/>
                        </a:rPr>
                        <a:t>existente.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576677959"/>
                  </a:ext>
                </a:extLst>
              </a:tr>
              <a:tr h="21936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R="1905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VE" sz="1800" b="0" dirty="0">
                          <a:effectLst/>
                        </a:rPr>
                        <a:t>Se realizará la instalación del sistema automatizado en “Taberna 7 hermanos” y se dejará en </a:t>
                      </a:r>
                      <a:r>
                        <a:rPr lang="es-VE" sz="1800" b="0" dirty="0" smtClean="0">
                          <a:effectLst/>
                        </a:rPr>
                        <a:t>funcionamiento.</a:t>
                      </a:r>
                      <a:endParaRPr lang="es-E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 smtClean="0">
                          <a:effectLst/>
                        </a:rPr>
                        <a:t>Transacción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R="3810" algn="just">
                        <a:lnSpc>
                          <a:spcPct val="146000"/>
                        </a:lnSpc>
                        <a:spcAft>
                          <a:spcPts val="1440"/>
                        </a:spcAft>
                      </a:pPr>
                      <a:r>
                        <a:rPr lang="es-VE" sz="1800" dirty="0">
                          <a:effectLst/>
                        </a:rPr>
                        <a:t>Realizar una explicación del funcionamiento del sistema automatizado a las personas que </a:t>
                      </a:r>
                      <a:r>
                        <a:rPr lang="es-VE" sz="1800" dirty="0" smtClean="0">
                          <a:effectLst/>
                        </a:rPr>
                        <a:t>lo utilizarán.</a:t>
                      </a:r>
                      <a:endParaRPr lang="es-E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502812463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0" y="2338153"/>
            <a:ext cx="24304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Fases del RUP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5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FB35DFE-7120-E866-D9E0-D39D1F63D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1002"/>
              </p:ext>
            </p:extLst>
          </p:nvPr>
        </p:nvGraphicFramePr>
        <p:xfrm>
          <a:off x="3161335" y="297261"/>
          <a:ext cx="8757949" cy="630936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105865">
                  <a:extLst>
                    <a:ext uri="{9D8B030D-6E8A-4147-A177-3AD203B41FA5}">
                      <a16:colId xmlns:a16="http://schemas.microsoft.com/office/drawing/2014/main" val="2102601872"/>
                    </a:ext>
                  </a:extLst>
                </a:gridCol>
                <a:gridCol w="2005263">
                  <a:extLst>
                    <a:ext uri="{9D8B030D-6E8A-4147-A177-3AD203B41FA5}">
                      <a16:colId xmlns:a16="http://schemas.microsoft.com/office/drawing/2014/main" val="1722048263"/>
                    </a:ext>
                  </a:extLst>
                </a:gridCol>
                <a:gridCol w="5646821">
                  <a:extLst>
                    <a:ext uri="{9D8B030D-6E8A-4147-A177-3AD203B41FA5}">
                      <a16:colId xmlns:a16="http://schemas.microsoft.com/office/drawing/2014/main" val="2888902171"/>
                    </a:ext>
                  </a:extLst>
                </a:gridCol>
              </a:tblGrid>
              <a:tr h="5500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ID RF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NOMBRE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solidFill>
                            <a:schemeClr val="bg1"/>
                          </a:solidFill>
                          <a:effectLst/>
                        </a:rPr>
                        <a:t>DESCRIPCION </a:t>
                      </a:r>
                      <a:endParaRPr lang="es-E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967441545"/>
                  </a:ext>
                </a:extLst>
              </a:tr>
              <a:tr h="1137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u="sng" dirty="0" smtClean="0">
                          <a:effectLst/>
                        </a:rPr>
                        <a:t>RF-1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Administrador</a:t>
                      </a:r>
                      <a:endParaRPr lang="es-ES" sz="2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Persona encargada para Registrar, Autenticar, modificar, consultar, generar reportes.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875975576"/>
                  </a:ext>
                </a:extLst>
              </a:tr>
              <a:tr h="1137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u="sng" dirty="0" smtClean="0">
                          <a:effectLst/>
                        </a:rPr>
                        <a:t>RF-2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Usuario</a:t>
                      </a:r>
                      <a:endParaRPr lang="es-ES" sz="2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Será la persona que usará el sistema, pero hasta donde lo permita. Podrá </a:t>
                      </a:r>
                      <a:r>
                        <a:rPr lang="es-VE" sz="2400" dirty="0" smtClean="0">
                          <a:effectLst/>
                        </a:rPr>
                        <a:t>consultar.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199312275"/>
                  </a:ext>
                </a:extLst>
              </a:tr>
              <a:tr h="5500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u="sng" dirty="0" smtClean="0">
                          <a:effectLst/>
                        </a:rPr>
                        <a:t>RF-3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Proveedores</a:t>
                      </a:r>
                      <a:endParaRPr lang="es-ES" sz="2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Se podrá registrar, consultar, modificar y eliminar.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97101925"/>
                  </a:ext>
                </a:extLst>
              </a:tr>
              <a:tr h="5500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u="sng" dirty="0" smtClean="0">
                          <a:effectLst/>
                        </a:rPr>
                        <a:t>RF-4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Inventario</a:t>
                      </a:r>
                      <a:endParaRPr lang="es-ES" sz="2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2400" dirty="0">
                          <a:effectLst/>
                        </a:rPr>
                        <a:t>Se podrá consultar y modificar.</a:t>
                      </a:r>
                      <a:endParaRPr lang="es-ES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57232206"/>
                  </a:ext>
                </a:extLst>
              </a:tr>
            </a:tbl>
          </a:graphicData>
        </a:graphic>
      </p:graphicFrame>
      <p:sp>
        <p:nvSpPr>
          <p:cNvPr id="9" name="CuadroTexto 8"/>
          <p:cNvSpPr txBox="1"/>
          <p:nvPr/>
        </p:nvSpPr>
        <p:spPr>
          <a:xfrm>
            <a:off x="-256674" y="2333002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algn="ctr"/>
            <a:r>
              <a:rPr lang="es-VE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Funcionales</a:t>
            </a:r>
            <a:endParaRPr lang="es-V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5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9790D456-003B-8959-E083-69F9464C1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682180"/>
              </p:ext>
            </p:extLst>
          </p:nvPr>
        </p:nvGraphicFramePr>
        <p:xfrm>
          <a:off x="3161335" y="289845"/>
          <a:ext cx="8854203" cy="661769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526452">
                  <a:extLst>
                    <a:ext uri="{9D8B030D-6E8A-4147-A177-3AD203B41FA5}">
                      <a16:colId xmlns:a16="http://schemas.microsoft.com/office/drawing/2014/main" val="908891257"/>
                    </a:ext>
                  </a:extLst>
                </a:gridCol>
                <a:gridCol w="1632802">
                  <a:extLst>
                    <a:ext uri="{9D8B030D-6E8A-4147-A177-3AD203B41FA5}">
                      <a16:colId xmlns:a16="http://schemas.microsoft.com/office/drawing/2014/main" val="265883110"/>
                    </a:ext>
                  </a:extLst>
                </a:gridCol>
                <a:gridCol w="5694949">
                  <a:extLst>
                    <a:ext uri="{9D8B030D-6E8A-4147-A177-3AD203B41FA5}">
                      <a16:colId xmlns:a16="http://schemas.microsoft.com/office/drawing/2014/main" val="2998825399"/>
                    </a:ext>
                  </a:extLst>
                </a:gridCol>
              </a:tblGrid>
              <a:tr h="4439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solidFill>
                            <a:schemeClr val="bg1"/>
                          </a:solidFill>
                          <a:effectLst/>
                        </a:rPr>
                        <a:t>ID RNF 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VE" sz="1800" dirty="0" smtClean="0">
                          <a:solidFill>
                            <a:schemeClr val="bg1"/>
                          </a:solidFill>
                          <a:effectLst/>
                        </a:rPr>
                        <a:t>NOMBRE 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VE" sz="1800" dirty="0" smtClean="0">
                          <a:solidFill>
                            <a:schemeClr val="bg1"/>
                          </a:solidFill>
                          <a:effectLst/>
                        </a:rPr>
                        <a:t>DESCRIPCIÓN  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133109616"/>
                  </a:ext>
                </a:extLst>
              </a:tr>
              <a:tr h="8470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 dirty="0">
                          <a:effectLst/>
                        </a:rPr>
                        <a:t>RNF-01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Transparencia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La información del sistema debe ser clara y concisa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411854775"/>
                  </a:ext>
                </a:extLst>
              </a:tr>
              <a:tr h="8879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 dirty="0">
                          <a:effectLst/>
                        </a:rPr>
                        <a:t>RNF-02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Eficiente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El sistema agiliza los procesos registro y control de compra-ventas en el negocio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687915129"/>
                  </a:ext>
                </a:extLst>
              </a:tr>
              <a:tr h="11191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>
                          <a:effectLst/>
                        </a:rPr>
                        <a:t>RNF-03</a:t>
                      </a:r>
                      <a:endParaRPr lang="es-ES" sz="140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>
                          <a:effectLst/>
                        </a:rPr>
                        <a:t> 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>
                          <a:effectLst/>
                        </a:rPr>
                        <a:t>Seguridad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Proporciona la protección necesaria para los datos que serán manejados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864336371"/>
                  </a:ext>
                </a:extLst>
              </a:tr>
              <a:tr h="7331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>
                          <a:effectLst/>
                        </a:rPr>
                        <a:t>RNF-04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>
                          <a:effectLst/>
                        </a:rPr>
                        <a:t>Rapidez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Permite acceder de forma rápida y eficaz la información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90082669"/>
                  </a:ext>
                </a:extLst>
              </a:tr>
              <a:tr h="9682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>
                          <a:effectLst/>
                        </a:rPr>
                        <a:t>RNF-05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>
                          <a:effectLst/>
                        </a:rPr>
                        <a:t>Desempeño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El sistema trabajara en niveles óptimos sin la necesidad de presentar problemas a los usuarios o administrador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770644825"/>
                  </a:ext>
                </a:extLst>
              </a:tr>
              <a:tr h="8879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u="sng">
                          <a:effectLst/>
                        </a:rPr>
                        <a:t>RNF-06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>
                          <a:effectLst/>
                        </a:rPr>
                        <a:t>Rendimiento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1470"/>
                        </a:spcAft>
                      </a:pPr>
                      <a:r>
                        <a:rPr lang="es-VE" sz="1800" dirty="0">
                          <a:effectLst/>
                        </a:rPr>
                        <a:t>El sistema debe soportar el manejo de gran cantidad de información durante su proceso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630152646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-224589" y="2477380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algn="ctr"/>
            <a:r>
              <a:rPr lang="es-VE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  <a:p>
            <a:pPr algn="ctr"/>
            <a:r>
              <a:rPr lang="es-VE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Funcionales</a:t>
            </a:r>
            <a:endParaRPr lang="es-V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B4E8A4B-6A7F-5E85-CC65-865E6BA9D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98" y="1555693"/>
            <a:ext cx="5066788" cy="4695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4856B56C-1AEE-DF97-3FDC-8960306CBABD}"/>
              </a:ext>
            </a:extLst>
          </p:cNvPr>
          <p:cNvSpPr txBox="1">
            <a:spLocks/>
          </p:cNvSpPr>
          <p:nvPr/>
        </p:nvSpPr>
        <p:spPr>
          <a:xfrm>
            <a:off x="6247270" y="2116081"/>
            <a:ext cx="2259617" cy="1103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s-VE" sz="2400" b="1" dirty="0">
                <a:solidFill>
                  <a:schemeClr val="tx1"/>
                </a:solidFill>
                <a:latin typeface="Trebuchet MS"/>
              </a:rPr>
              <a:t>Jones(1981)</a:t>
            </a:r>
          </a:p>
          <a:p>
            <a:pPr lvl="0" algn="ctr">
              <a:defRPr/>
            </a:pPr>
            <a:r>
              <a:rPr lang="es-VE" sz="2400" b="1" dirty="0">
                <a:solidFill>
                  <a:schemeClr val="tx1"/>
                </a:solidFill>
                <a:latin typeface="Trebuchet MS"/>
              </a:rPr>
              <a:t>Caja Blanca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6E5BCB7-EBCD-9420-08A5-E72EDB76E830}"/>
              </a:ext>
            </a:extLst>
          </p:cNvPr>
          <p:cNvSpPr txBox="1">
            <a:spLocks/>
          </p:cNvSpPr>
          <p:nvPr/>
        </p:nvSpPr>
        <p:spPr>
          <a:xfrm>
            <a:off x="6295469" y="4925414"/>
            <a:ext cx="2163218" cy="13253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s-VE" sz="2400" b="1" dirty="0">
                <a:solidFill>
                  <a:schemeClr val="tx1"/>
                </a:solidFill>
                <a:latin typeface="Trebuchet MS"/>
              </a:rPr>
              <a:t>Roger S(2010)</a:t>
            </a:r>
          </a:p>
          <a:p>
            <a:pPr lvl="0" algn="ctr">
              <a:defRPr/>
            </a:pPr>
            <a:r>
              <a:rPr lang="es-VE" sz="2400" b="1" dirty="0">
                <a:solidFill>
                  <a:schemeClr val="tx1"/>
                </a:solidFill>
                <a:latin typeface="Trebuchet MS"/>
              </a:rPr>
              <a:t>Caja Negra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483849" y="493311"/>
            <a:ext cx="9224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  <a:endParaRPr lang="es-VE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89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2918</TotalTime>
  <Words>1301</Words>
  <Application>Microsoft Office PowerPoint</Application>
  <PresentationFormat>Panorámica</PresentationFormat>
  <Paragraphs>405</Paragraphs>
  <Slides>32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2" baseType="lpstr">
      <vt:lpstr>Agency FB</vt:lpstr>
      <vt:lpstr>Arial</vt:lpstr>
      <vt:lpstr>Calibri</vt:lpstr>
      <vt:lpstr>Calibri Light</vt:lpstr>
      <vt:lpstr>Symbol</vt:lpstr>
      <vt:lpstr>Times New Roman</vt:lpstr>
      <vt:lpstr>Trebuchet MS</vt:lpstr>
      <vt:lpstr>Tw Cen MT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</dc:creator>
  <cp:lastModifiedBy>Franyer</cp:lastModifiedBy>
  <cp:revision>145</cp:revision>
  <dcterms:created xsi:type="dcterms:W3CDTF">2020-01-23T02:56:20Z</dcterms:created>
  <dcterms:modified xsi:type="dcterms:W3CDTF">2024-08-16T19:06:50Z</dcterms:modified>
</cp:coreProperties>
</file>